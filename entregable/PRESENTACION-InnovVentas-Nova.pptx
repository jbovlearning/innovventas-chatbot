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508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563EB"/>
                </a:solidFill>
                <a:latin typeface="Segoe UI Semibold"/>
              </a:rPr>
              <a:t>TRABAJO FINAL DEL CURSO · AI-900T00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1168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600" b="0" i="0">
                <a:solidFill>
                  <a:srgbClr val="161D2F"/>
                </a:solidFill>
                <a:latin typeface="Segoe UI Light"/>
              </a:rPr>
              <a:t>Nova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500" b="0" i="0">
                <a:solidFill>
                  <a:srgbClr val="161D2F"/>
                </a:solidFill>
                <a:latin typeface="Segoe UI Light"/>
              </a:rPr>
              <a:t>Chatbot inteligente para el E-commerce de InnovVentas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114800"/>
            <a:ext cx="2011680" cy="31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Conceptos Básicos de IA en Microsoft Azure · Tecnologías de la Información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1D2F"/>
                </a:solidFill>
                <a:latin typeface="Segoe UI Semibold"/>
              </a:rPr>
              <a:t>Equipo:  </a:t>
            </a:r>
            <a:r>
              <a:rPr sz="1400" b="0" i="0">
                <a:solidFill>
                  <a:srgbClr val="64748B"/>
                </a:solidFill>
                <a:latin typeface="Segoe UI"/>
              </a:rPr>
              <a:t>Hugo André Cahua Solano · Henry Humberto Cruces Castro · Jean Beckan Olivitos Villanueva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011680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11680"/>
            <a:ext cx="640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563EB"/>
                </a:solidFill>
                <a:latin typeface="Segoe UI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011680"/>
            <a:ext cx="41605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D2F"/>
                </a:solidFill>
                <a:latin typeface="Segoe UI"/>
              </a:rPr>
              <a:t>Diagnóstico: contexto y problemas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834640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834640"/>
            <a:ext cx="640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563EB"/>
                </a:solidFill>
                <a:latin typeface="Segoe UI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834640"/>
            <a:ext cx="41605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D2F"/>
                </a:solidFill>
                <a:latin typeface="Segoe UI"/>
              </a:rPr>
              <a:t>Causa raíz y propuesta de valor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57600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657600"/>
            <a:ext cx="640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563EB"/>
                </a:solidFill>
                <a:latin typeface="Segoe UI Semi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657600"/>
            <a:ext cx="41605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D2F"/>
                </a:solidFill>
                <a:latin typeface="Segoe UI"/>
              </a:rPr>
              <a:t>La solución: Nova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480560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480560"/>
            <a:ext cx="640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563EB"/>
                </a:solidFill>
                <a:latin typeface="Segoe UI Semibol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480560"/>
            <a:ext cx="41605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D2F"/>
                </a:solidFill>
                <a:latin typeface="Segoe UI"/>
              </a:rPr>
              <a:t>Decisión tecnológica y costos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011680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011680"/>
            <a:ext cx="640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563EB"/>
                </a:solidFill>
                <a:latin typeface="Segoe UI Semibold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011680"/>
            <a:ext cx="41605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D2F"/>
                </a:solidFill>
                <a:latin typeface="Segoe UI"/>
              </a:rPr>
              <a:t>Diseño: FAQs, flujo y arquitectura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834640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834640"/>
            <a:ext cx="640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563EB"/>
                </a:solidFill>
                <a:latin typeface="Segoe UI Semibold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834640"/>
            <a:ext cx="41605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D2F"/>
                </a:solidFill>
                <a:latin typeface="Segoe UI"/>
              </a:rPr>
              <a:t>Plan de implementación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657600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657600"/>
            <a:ext cx="640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563EB"/>
                </a:solidFill>
                <a:latin typeface="Segoe UI Semibold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657600"/>
            <a:ext cx="41605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D2F"/>
                </a:solidFill>
                <a:latin typeface="Segoe UI"/>
              </a:rPr>
              <a:t>Métricas y preguntas guía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80560"/>
            <a:ext cx="5120640" cy="621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480560"/>
            <a:ext cx="6400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563EB"/>
                </a:solidFill>
                <a:latin typeface="Segoe UI Semibold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480560"/>
            <a:ext cx="416052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D2F"/>
                </a:solidFill>
                <a:latin typeface="Segoe UI"/>
              </a:rPr>
              <a:t>Demo en vivo y conclusiones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Contexto: InnovVentas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5486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161D2F"/>
                </a:solidFill>
                <a:latin typeface="Segoe UI"/>
              </a:rPr>
              <a:t>Empresa peruana especializada en la comercialización de productos tecnológicos. Su principal canal de ventas es el E-commerce.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64748B"/>
                </a:solidFill>
                <a:latin typeface="Segoe UI"/>
              </a:rPr>
              <a:t>Presenta una baja interacción en su sitio web que impacta las ventas y la retención: los usuarios abandonan la compra por falta de respuestas rápidas a sus dudas.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8105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NECESIDADES DEL CLIENTE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240280"/>
            <a:ext cx="4800600" cy="74980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240280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1D2F"/>
                </a:solidFill>
                <a:latin typeface="Segoe UI Semibold"/>
              </a:rPr>
              <a:t>Inmediatez — </a:t>
            </a:r>
            <a:r>
              <a:rPr sz="1300" b="0" i="0">
                <a:solidFill>
                  <a:srgbClr val="64748B"/>
                </a:solidFill>
                <a:latin typeface="Segoe UI"/>
              </a:rPr>
              <a:t>Respuestas en segundos, 24/7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108960"/>
            <a:ext cx="4800600" cy="74980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108960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1D2F"/>
                </a:solidFill>
                <a:latin typeface="Segoe UI Semibold"/>
              </a:rPr>
              <a:t>Cobertura — </a:t>
            </a:r>
            <a:r>
              <a:rPr sz="1300" b="0" i="0">
                <a:solidFill>
                  <a:srgbClr val="64748B"/>
                </a:solidFill>
                <a:latin typeface="Segoe UI"/>
              </a:rPr>
              <a:t>Antes, durante y después de la compra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977639"/>
            <a:ext cx="4800600" cy="74980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977639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1D2F"/>
                </a:solidFill>
                <a:latin typeface="Segoe UI Semibold"/>
              </a:rPr>
              <a:t>Integración — </a:t>
            </a:r>
            <a:r>
              <a:rPr sz="1300" b="0" i="0">
                <a:solidFill>
                  <a:srgbClr val="64748B"/>
                </a:solidFill>
                <a:latin typeface="Segoe UI"/>
              </a:rPr>
              <a:t>No intrusiva, sobre el sitio actual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846320"/>
            <a:ext cx="4800600" cy="74980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846320"/>
            <a:ext cx="43891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1D2F"/>
                </a:solidFill>
                <a:latin typeface="Segoe UI Semibold"/>
              </a:rPr>
              <a:t>Métricas — </a:t>
            </a:r>
            <a:r>
              <a:rPr sz="1300" b="0" i="0">
                <a:solidFill>
                  <a:srgbClr val="64748B"/>
                </a:solidFill>
                <a:latin typeface="Segoe UI"/>
              </a:rPr>
              <a:t>Medir impacto en ventas y abandono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Problemas en el flujo de E-commerce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05740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057400"/>
            <a:ext cx="91440" cy="160020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258568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61D2F"/>
                </a:solidFill>
                <a:latin typeface="Segoe UI Semibold"/>
              </a:rPr>
              <a:t>Carritos abandonados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Los usuarios dejan la compra a medias por dudas no resueltas a tiempo.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205740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2057400"/>
            <a:ext cx="91440" cy="160020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258568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61D2F"/>
                </a:solidFill>
                <a:latin typeface="Segoe UI Semibold"/>
              </a:rPr>
              <a:t>Consultas sin respuesta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Especificaciones, métodos de pago y disponibilidad sin atención inmediata.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93192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3931920"/>
            <a:ext cx="91440" cy="160020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133087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61D2F"/>
                </a:solidFill>
                <a:latin typeface="Segoe UI Semibold"/>
              </a:rPr>
              <a:t>Soporte lento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Tickets que tardan 24–48 h generan insatisfacción y fuga a la competencia.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393192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3931920"/>
            <a:ext cx="91440" cy="1600200"/>
          </a:xfrm>
          <a:prstGeom prst="rect">
            <a:avLst/>
          </a:prstGeom>
          <a:solidFill>
            <a:srgbClr val="DC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4133087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61D2F"/>
                </a:solidFill>
                <a:latin typeface="Segoe UI Semibold"/>
              </a:rPr>
              <a:t>Sin visibilidad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No se miden las interacciones; no se puede optimizar la conversión.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CAUSA →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De la causa raíz a la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DC262A"/>
                </a:solidFill>
                <a:latin typeface="Segoe UI Semibold"/>
              </a:rPr>
              <a:t>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0248" y="1828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5309"/>
                </a:solidFill>
                <a:latin typeface="Segoe UI Semibold"/>
              </a:rPr>
              <a:t>CAUSA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1828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59669"/>
                </a:solidFill>
                <a:latin typeface="Segoe UI Semibold"/>
              </a:rPr>
              <a:t>SOLUCIÓN — NOVA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194560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194560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Carritos abandonados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77056" y="2766060"/>
            <a:ext cx="374904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70248" y="2194560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194560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No hay respuestas rápidas durante la compra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06056" y="2766060"/>
            <a:ext cx="374904" cy="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99248" y="2194560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2194560"/>
            <a:ext cx="33375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Nova responde FAQs al instante y guía el checkout.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493008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493008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Fuga a la competencia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77056" y="4064508"/>
            <a:ext cx="374904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270248" y="3493008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493008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Dudas de specs, pago y stock sin atención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06056" y="4064508"/>
            <a:ext cx="374904" cy="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99248" y="3493008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8" y="3493008"/>
            <a:ext cx="33375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Atención 24/7 con base de FAQs; deriva a humano si hace falta.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791456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791456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Sin mejora continua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77056" y="5362956"/>
            <a:ext cx="374904" cy="0"/>
          </a:xfrm>
          <a:prstGeom prst="line">
            <a:avLst/>
          </a:prstGeom>
          <a:ln w="22225">
            <a:solidFill>
              <a:srgbClr val="64748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270248" y="4791456"/>
            <a:ext cx="3017520" cy="1143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4791456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No se miden las interacciones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06056" y="5362956"/>
            <a:ext cx="374904" cy="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699248" y="4791456"/>
            <a:ext cx="3657600" cy="1143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8" y="4791456"/>
            <a:ext cx="33375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Registro de todo + dashboard (CSAT, intenciones, resolución).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Nova, el asistente virtual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64748B"/>
                </a:solidFill>
                <a:latin typeface="Segoe UI"/>
              </a:rPr>
              <a:t>Chatbot conversacional embebible en el sitio de InnovVentas. Entiende lenguaje natural con un modelo de lenguaje (LLM) y responde ciñéndose a las FAQs de la empresa; registra cada conversación y mide la satisfacción del cliente.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06324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355848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5608" y="324612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Responde FAQs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Productos, pagos, envíos, garantías y devoluciones.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306324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56248" y="3355848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324612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Asiste la compra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Guía el checkout para reducir el abandono de carrito.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48056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568" y="4773168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8" y="466344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Soporte 24/7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Disponible siempre, con escalado a un humano.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448056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6248" y="4773168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466344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Mide impacto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CSAT, intenciones y tasa de resolución en un dashboard.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SOLUCIÓN ·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Decisión tecnológica: Azure y alternativas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El curso se centra en Azure AI; la opción ideal era Azure AI Language (CLU). Al agotarse el crédito de estudiante de Azure, se optó por alternativas de capa gratuita equivalentes, conservando una arquitectura desacoplada y migrable a Azure.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41648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Segoe UI Semibold"/>
              </a:rPr>
              <a:t>OPCIÓN IDEAL (AZURE)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128" y="2788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59669"/>
                </a:solidFill>
                <a:latin typeface="Segoe UI Semibold"/>
              </a:rPr>
              <a:t>IMPLEMENTADO (GRATIS)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108960"/>
            <a:ext cx="3017520" cy="60350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1089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Motor NLP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3108960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Azure AI Language (CLU)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79208" y="3410712"/>
            <a:ext cx="411480" cy="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82128" y="3108960"/>
            <a:ext cx="3383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D2F"/>
                </a:solidFill>
                <a:latin typeface="Segoe UI Semibold"/>
              </a:rPr>
              <a:t>LLM Groq (Llama 3.3)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803904"/>
            <a:ext cx="3017520" cy="60350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03904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3803904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Azure Container Instances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79208" y="4105656"/>
            <a:ext cx="411480" cy="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882128" y="3803904"/>
            <a:ext cx="3383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D2F"/>
                </a:solidFill>
                <a:latin typeface="Segoe UI Semibold"/>
              </a:rPr>
              <a:t>Render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498848"/>
            <a:ext cx="3017520" cy="60350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498848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Base de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4498848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Azure DB for PostgreSQL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79208" y="4800600"/>
            <a:ext cx="411480" cy="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82128" y="4498848"/>
            <a:ext cx="3383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D2F"/>
                </a:solidFill>
                <a:latin typeface="Segoe UI Semibold"/>
              </a:rPr>
              <a:t>PostgreSQL en Neon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193792"/>
            <a:ext cx="3017520" cy="603504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193792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5193792"/>
            <a:ext cx="3291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Azure Static Web Apps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9208" y="5495544"/>
            <a:ext cx="411480" cy="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82128" y="5193792"/>
            <a:ext cx="33832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D2F"/>
                </a:solidFill>
                <a:latin typeface="Segoe UI Semibold"/>
              </a:rPr>
              <a:t>Netlify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943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Segoe UI"/>
              </a:rPr>
              <a:t>El motor de IA y la BD se cambian por variables de entorno: se puede volver a Azure sin reescribir el código.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SOLUCIÓN · TECNOLOGÍA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Stack y justificación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920240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20240"/>
            <a:ext cx="21031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563EB"/>
                </a:solidFill>
                <a:latin typeface="Segoe UI Semibold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0128" y="1920240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1D2F"/>
                </a:solidFill>
                <a:latin typeface="Segoe UI Semibold"/>
              </a:rPr>
              <a:t>HTML/CSS/JS vanilla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1920240"/>
            <a:ext cx="52120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Embebible con un &lt;script&gt;, sin dependencias; compatible con cualquier web.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825496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825496"/>
            <a:ext cx="21031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563EB"/>
                </a:solidFill>
                <a:latin typeface="Segoe UI Semibold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825496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1D2F"/>
                </a:solidFill>
                <a:latin typeface="Segoe UI Semibold"/>
              </a:rPr>
              <a:t>Python + 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825496"/>
            <a:ext cx="52120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API REST rápida y asíncrona; documentación automática; ecosistema de 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730752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730752"/>
            <a:ext cx="21031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563EB"/>
                </a:solidFill>
                <a:latin typeface="Segoe UI Semibold"/>
              </a:rPr>
              <a:t>Motor NLP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730752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1D2F"/>
                </a:solidFill>
                <a:latin typeface="Segoe UI Semibold"/>
              </a:rPr>
              <a:t>LLM Groq (Llama 3.3)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730752"/>
            <a:ext cx="52120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Entiende lenguaje libre con las FAQs como contexto; intercambiable con Azure CLU.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636008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4636008"/>
            <a:ext cx="21031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563EB"/>
                </a:solidFill>
                <a:latin typeface="Segoe UI Semibold"/>
              </a:rPr>
              <a:t>Base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636008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1D2F"/>
                </a:solidFill>
                <a:latin typeface="Segoe UI Semibold"/>
              </a:rPr>
              <a:t>PostgreSQL (Neon)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4636008"/>
            <a:ext cx="52120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Robusta y open source; ideal para logs y métricas; migrable a Azure DB.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541264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5541264"/>
            <a:ext cx="21031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563EB"/>
                </a:solidFill>
                <a:latin typeface="Segoe UI Semibold"/>
              </a:rPr>
              <a:t>Despliegue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541264"/>
            <a:ext cx="256032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1D2F"/>
                </a:solidFill>
                <a:latin typeface="Segoe UI Semibold"/>
              </a:rPr>
              <a:t>Render + Netlify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5541264"/>
            <a:ext cx="52120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Hosting gratuito; el backend resguarda las claves de API (no se exponen).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SOLUCIÓN · COSTOS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Costos de operación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98848" y="1828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59669"/>
                </a:solidFill>
                <a:latin typeface="Segoe UI Semibold"/>
              </a:rPr>
              <a:t>MVP ACTUAL (CAPA GRATUITA)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64748B"/>
                </a:solidFill>
                <a:latin typeface="Segoe UI Semibold"/>
              </a:rPr>
              <a:t>PRODUCCIÓN EN AZURE (ESTIMADO/MES)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194560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194560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D2F"/>
                </a:solidFill>
                <a:latin typeface="Segoe UI Semibold"/>
              </a:rPr>
              <a:t>Motor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19456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59669"/>
                </a:solidFill>
                <a:latin typeface="Segoe UI"/>
              </a:rPr>
              <a:t>Groq —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19456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Azure AI Language ≈ $25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834639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834639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D2F"/>
                </a:solidFill>
                <a:latin typeface="Segoe UI Semibold"/>
              </a:rPr>
              <a:t>Backend /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834639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59669"/>
                </a:solidFill>
                <a:latin typeface="Segoe UI"/>
              </a:rPr>
              <a:t>Render —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2834639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Azure App Service (B1) ≈ $13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474720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474720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D2F"/>
                </a:solidFill>
                <a:latin typeface="Segoe UI Semibold"/>
              </a:rPr>
              <a:t>Base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47472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59669"/>
                </a:solidFill>
                <a:latin typeface="Segoe UI"/>
              </a:rPr>
              <a:t>Neon — 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347472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Azure DB PostgreSQL ≈ $20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114800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114800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D2F"/>
                </a:solidFill>
                <a:latin typeface="Segoe UI Semibold"/>
              </a:rPr>
              <a:t>Frontend / Hosting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411480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59669"/>
                </a:solidFill>
                <a:latin typeface="Segoe UI"/>
              </a:rPr>
              <a:t>Netlify —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411480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Azure Static Web Apps ≈ $0–9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754880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4754880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61D2F"/>
                </a:solidFill>
                <a:latin typeface="Segoe UI Semibold"/>
              </a:rPr>
              <a:t>Dominio + SSL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475488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59669"/>
                </a:solidFill>
                <a:latin typeface="Segoe UI"/>
              </a:rPr>
              <a:t>Incluido — Free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8" y="475488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≈ $2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539496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5394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TOTAL MENSUAL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5394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US$ 0 / 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539496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≈ US$ 60 / mes (estimado)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9893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4748B"/>
                </a:solidFill>
                <a:latin typeface="Segoe UI"/>
              </a:rPr>
              <a:t>Desarrollo: equipo de 3 personas, ~4 semanas (costo académico). Cifras de Azure referenciales según volumen.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SOLUCIÓN ·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Base de conocimiento: FAQs por categoría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0574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585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01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Productos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Especificaciones, stock y garantía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20574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585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02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Precios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Precios con IGV, descuentos y cupones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82128" y="20574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2585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03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Métodos de pago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Yape, Plin, tarjetas y cuotas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6576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587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04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Proceso de compra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Pasos, compra invitado, cancelación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36576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587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05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Envíos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Tiempos, costos y rastreo de pedidos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8" y="36576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858768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563EB"/>
                </a:solidFill>
                <a:latin typeface="Segoe UI Semibold"/>
              </a:rPr>
              <a:t>06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Soporte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Garantías, devoluciones y post-venta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4864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64748B"/>
                </a:solidFill>
                <a:latin typeface="Segoe UI"/>
              </a:rPr>
              <a:t>Personalidad: «Nova», tono amigable y conciso, en español peruano. Umbral de confianza con derivación a humano (fallback).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SOLUCIÓN ·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Flujo conversacional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468880"/>
            <a:ext cx="1874519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46888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Usuario
escribe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15767" y="2994660"/>
            <a:ext cx="256032" cy="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799" y="2468880"/>
            <a:ext cx="1874519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799" y="246888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Nova procesa
(LLM + FAQs)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18" y="2994660"/>
            <a:ext cx="256032" cy="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02350" y="2468880"/>
            <a:ext cx="1874519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0" y="246888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Responde con
la FAQ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76869" y="2994660"/>
            <a:ext cx="256032" cy="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32901" y="2468880"/>
            <a:ext cx="1874519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1" y="246888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Registra en
PostgreSQL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07420" y="2994660"/>
            <a:ext cx="256032" cy="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63452" y="2468880"/>
            <a:ext cx="1874519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2" y="246888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Encuesta CSAT
y cierre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06908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069080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161D2F"/>
                </a:solidFill>
                <a:latin typeface="Segoe UI"/>
              </a:rPr>
              <a:t>Si la consulta no está cubierta por las FAQs → Nova lo reconoce (no inventa) y deriva a soporte / agente humano, registrando el caso como fallback para mejorar la base de conocimiento.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SOLUCIÓN ·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Arquitectura técnica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08960" y="1828800"/>
            <a:ext cx="5943600" cy="8686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828800"/>
            <a:ext cx="5943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1D2F"/>
                </a:solidFill>
                <a:latin typeface="Segoe UI Semibold"/>
              </a:rPr>
              <a:t>FRONTEND — Widget embebible + Tienda  (Netlify)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697480"/>
            <a:ext cx="0" cy="365760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0" y="272491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4748B"/>
                </a:solidFill>
                <a:latin typeface="Segoe UI"/>
              </a:rPr>
              <a:t>HTTPS · POST /api/chat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3108960"/>
            <a:ext cx="5943600" cy="86868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3108960"/>
            <a:ext cx="5943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BACKEND — API REST FastAPI  (Render)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4023360" y="3977639"/>
            <a:ext cx="731520" cy="457201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" y="3977639"/>
            <a:ext cx="731520" cy="457201"/>
          </a:xfrm>
          <a:prstGeom prst="line">
            <a:avLst/>
          </a:prstGeom>
          <a:ln w="22225">
            <a:solidFill>
              <a:srgbClr val="2563E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54480" y="4480560"/>
            <a:ext cx="4206240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44805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MOTOR NLP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1D2F"/>
                </a:solidFill>
                <a:latin typeface="Segoe UI"/>
              </a:rPr>
              <a:t>LLM Groq (Llama 3.3) + FAQs
Alternativa: Azure AI Language (CLU)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480560"/>
            <a:ext cx="4206240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4805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BASE DE DATOS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61D2F"/>
                </a:solidFill>
                <a:latin typeface="Segoe UI"/>
              </a:rPr>
              <a:t>PostgreSQL (Neon)
faqs · chat_logs · sessions ·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8064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Segoe UI"/>
              </a:rPr>
              <a:t>Motor NLP y base de datos son piezas intercambiables (se cambian por variables de entorno).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Pasos para integrar el chatbot al sitio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2670048"/>
            <a:ext cx="1024128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743200"/>
            <a:ext cx="1938528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907792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2563EB"/>
                </a:solidFill>
                <a:latin typeface="Segoe UI Ligh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401568"/>
            <a:ext cx="17190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Diseño y FAQs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Levantar FAQs con ventas; definir flujo e intenciones.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2743200"/>
            <a:ext cx="1938528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907792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2563EB"/>
                </a:solidFill>
                <a:latin typeface="Segoe UI Ligh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3401568"/>
            <a:ext cx="17190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Backend + BD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FastAPI + PostgreSQL; endpoints y registro de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743200"/>
            <a:ext cx="1938528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907792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2563EB"/>
                </a:solidFill>
                <a:latin typeface="Segoe UI Ligh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3401568"/>
            <a:ext cx="17190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Bot + Frontend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Conectar el LLM y construir el widget + CSAT.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0608" y="2743200"/>
            <a:ext cx="1938528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0608" y="2907792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2563EB"/>
                </a:solidFill>
                <a:latin typeface="Segoe UI Light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336" y="3401568"/>
            <a:ext cx="17190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Integración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Insertar el &lt;script&gt; en el sitio; configurar CORS.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53728" y="2743200"/>
            <a:ext cx="1938528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907792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0" i="0">
                <a:solidFill>
                  <a:srgbClr val="2563EB"/>
                </a:solidFill>
                <a:latin typeface="Segoe UI Light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3401568"/>
            <a:ext cx="171907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61D2F"/>
                </a:solidFill>
                <a:latin typeface="Segoe UI Semibold"/>
              </a:rPr>
              <a:t>Despliegue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748B"/>
                </a:solidFill>
                <a:latin typeface="Segoe UI"/>
              </a:rPr>
              <a:t>Publicar en Render + Netlify; pruebas y monitoreo.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Métricas de éxito (objetivos)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011680"/>
            <a:ext cx="2468880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0" i="0">
                <a:solidFill>
                  <a:srgbClr val="2563EB"/>
                </a:solidFill>
                <a:latin typeface="Segoe UI Light"/>
              </a:rPr>
              <a:t>≥ 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971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Resolución sin agente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2011680"/>
            <a:ext cx="2468880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22402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0" i="0">
                <a:solidFill>
                  <a:srgbClr val="2563EB"/>
                </a:solidFill>
                <a:latin typeface="Segoe UI Light"/>
              </a:rPr>
              <a:t>≥ 4.2/5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2971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CSAT (satisfacción)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011680"/>
            <a:ext cx="2468880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2402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0" i="0">
                <a:solidFill>
                  <a:srgbClr val="2563EB"/>
                </a:solidFill>
                <a:latin typeface="Segoe UI Light"/>
              </a:rPr>
              <a:t>−25%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2971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Carritos abandonados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1392" y="2011680"/>
            <a:ext cx="2468880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1392" y="224028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0" i="0">
                <a:solidFill>
                  <a:srgbClr val="2563EB"/>
                </a:solidFill>
                <a:latin typeface="Segoe UI Light"/>
              </a:rPr>
              <a:t>&lt; 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29718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4748B"/>
                </a:solidFill>
                <a:latin typeface="Segoe UI"/>
              </a:rPr>
              <a:t>Tiempo de respuesta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977639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QUÉ SE MONITOREA (en vivo, desde PostgreSQL)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4507992"/>
            <a:ext cx="146304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434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Total de conversaciones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1688" y="4507992"/>
            <a:ext cx="146304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4296" y="4434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Top intenciones consultadas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82128" y="4507992"/>
            <a:ext cx="146304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4736" y="4434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Tasa de fallback (no entendidas)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5148072"/>
            <a:ext cx="146304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5074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CSAT promedio (1–5)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5148072"/>
            <a:ext cx="146304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5074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Tasa de resolución / escalado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8" y="5148072"/>
            <a:ext cx="146304" cy="14630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50749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D2F"/>
                </a:solidFill>
                <a:latin typeface="Segoe UI"/>
              </a:rPr>
              <a:t>Conversiones atribuidas al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PREGUNTAS GUÍA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Respuestas (1 –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D2F"/>
                </a:solidFill>
                <a:latin typeface="Segoe UI Semibold"/>
              </a:rPr>
              <a:t>1) ¿Cuáles son las FAQs más comunes de los clientes?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25856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Especificaciones y disponibilidad de productos, garantía; precios, IGV y descuentos; métodos de pago (Yape, Plin, tarjetas, cuotas); proceso de compra y cancelación; tiempos/costos y rastreo de envíos; devoluciones y soporte técnico.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2918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D2F"/>
                </a:solidFill>
                <a:latin typeface="Segoe UI Semibold"/>
              </a:rPr>
              <a:t>2) ¿Qué herramientas/plataformas son más adecuadas?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67588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Widget en JS embebible (Netlify) + API FastAPI (Render) + motor NLP con LLM Groq usando las FAQs como contexto (alineado al curso vía Azure AI Language) + PostgreSQL (Neon) para métricas. Gratis, escalable e intercambiable.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7091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D2F"/>
                </a:solidFill>
                <a:latin typeface="Segoe UI Semibold"/>
              </a:rPr>
              <a:t>3) ¿Cómo evaluar la efectividad (satisfacción y ventas)?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0932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Satisfacción: CSAT (1–5), tasa de resolución sin escalado y tasa de comprensión. Ventas: reducción de carritos abandonados y conversión post-chat. Todo registrado en PostgreSQL y visible en el 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PREGUNTAS GUÍA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Respuestas (4 –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659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D2F"/>
                </a:solidFill>
                <a:latin typeface="Segoe UI Semibold"/>
              </a:rPr>
              <a:t>4) ¿Qué desafíos técnicos podrían surgir y cómo resolverlos?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500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Comprensión del lenguaje → LLM con grounding en FAQs (no inventa). Integración → widget &lt;script&gt; + CORS. Seguridad → las claves viven en el backend, nunca en el navegador. Disponibilidad → contenedores con healthcheck/restart. FAQs actualizadas → edición en base de datos.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8404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D2F"/>
                </a:solidFill>
                <a:latin typeface="Segoe UI Semibold"/>
              </a:rPr>
              <a:t>5) ¿Qué métricas monitorear y cómo optimizar las funcionalidades?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2452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Monitorear: nº de conversaciones, top intenciones, % de fallback, CSAT y tasa de resolución. Optimizar: revisar los mensajes en fallback para convertirlos en nuevas FAQs, ajustar el prompt/base de conocimiento y re-entrenar periódicamente con casos reales.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Demo en vivo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011680"/>
            <a:ext cx="3337560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24028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Tienda + Widget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Sitio de InnovVentas con Nova flotante (Netlify)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2011680"/>
            <a:ext cx="3337560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224028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Chatbot Nova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Conversación real con persistencia del historial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2011680"/>
            <a:ext cx="3337560" cy="15544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2240280"/>
            <a:ext cx="2926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50" b="1" i="0">
                <a:solidFill>
                  <a:srgbClr val="161D2F"/>
                </a:solidFill>
                <a:latin typeface="Segoe UI Semibold"/>
              </a:rPr>
              <a:t>Dashboard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4748B"/>
                </a:solidFill>
                <a:latin typeface="Segoe UI"/>
              </a:rPr>
              <a:t>Métricas en vivo desde la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977639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16052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URLs del demo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1D2F"/>
                </a:solidFill>
                <a:latin typeface="Segoe UI Semibold"/>
              </a:rPr>
              <a:t>API (backend):  </a:t>
            </a:r>
            <a:r>
              <a:rPr sz="1350" b="0" i="0">
                <a:solidFill>
                  <a:srgbClr val="2563EB"/>
                </a:solidFill>
                <a:latin typeface="Segoe UI"/>
              </a:rPr>
              <a:t>innovventas-chatbot-rz1k.onrender.com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1D2F"/>
                </a:solidFill>
                <a:latin typeface="Segoe UI Semibold"/>
              </a:rPr>
              <a:t>Tienda + Dashboard:  </a:t>
            </a:r>
            <a:r>
              <a:rPr sz="1350" b="0" i="0">
                <a:solidFill>
                  <a:srgbClr val="64748B"/>
                </a:solidFill>
                <a:latin typeface="Segoe UI"/>
              </a:rPr>
              <a:t>publicado en Netlify (frontend estático)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66928"/>
            <a:ext cx="2743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9601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 Semibold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32688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161D2F"/>
                </a:solidFill>
                <a:latin typeface="Segoe UI Light"/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27632"/>
            <a:ext cx="566928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2066544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196596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1D2F"/>
                </a:solidFill>
                <a:latin typeface="Segoe UI"/>
              </a:rPr>
              <a:t>Nova ataca la causa raíz del abandono de carrito: atención inmediata, 24/7 e integrada al sitio.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80944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88036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1D2F"/>
                </a:solidFill>
                <a:latin typeface="Segoe UI"/>
              </a:rPr>
              <a:t>Solución funcional y desplegada en la nube con costo cero (capa gratuita).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895344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79476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1D2F"/>
                </a:solidFill>
                <a:latin typeface="Segoe UI"/>
              </a:rPr>
              <a:t>Arquitectura desacoplada: el motor de IA es intercambiable (Groq hoy, Azure AI Language en producción).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809744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70916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1D2F"/>
                </a:solidFill>
                <a:latin typeface="Segoe UI"/>
              </a:rPr>
              <a:t>Cada conversación se registra y se mide, habilitando optimización continua basada en datos.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41908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InnovVentas · Chatbot Nova · AI-900T00 · SENATI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0" i="0">
                <a:solidFill>
                  <a:srgbClr val="161D2F"/>
                </a:solidFill>
                <a:latin typeface="Segoe UI Light"/>
              </a:rPr>
              <a:t>¡Gracias!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657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64748B"/>
                </a:solidFill>
                <a:latin typeface="Segoe UI"/>
              </a:rPr>
              <a:t>¿Preguntas? Prueba a Nova en vivo en el sitio de InnovVentas.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343400"/>
            <a:ext cx="2011680" cy="317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5720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61D2F"/>
                </a:solidFill>
                <a:latin typeface="Segoe UI Semibold"/>
              </a:rPr>
              <a:t>soporte@innovventas.pe</a:t>
            </a:r>
            <a:r>
              <a:rPr sz="1350" b="0" i="0">
                <a:solidFill>
                  <a:srgbClr val="64748B"/>
                </a:solidFill>
                <a:latin typeface="Segoe UI"/>
              </a:rPr>
              <a:t>    ·    01-234-5678    ·    </a:t>
            </a:r>
            <a:r>
              <a:rPr sz="1350" b="0" i="0">
                <a:solidFill>
                  <a:srgbClr val="2563EB"/>
                </a:solidFill>
                <a:latin typeface="Segoe UI"/>
              </a:rPr>
              <a:t>innovventas-chatbot-rz1k.onrender.com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InnovVentas — Chatbot Nova | Trabajo Final AI-900T00</dc:title>
  <dc:subject/>
  <dc:creator>Cahua · Cruces · Olivitos — SENATI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