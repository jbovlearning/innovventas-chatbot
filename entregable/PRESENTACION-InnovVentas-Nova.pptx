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15087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563EB"/>
                </a:solidFill>
                <a:latin typeface="Segoe UI Semibold"/>
              </a:rPr>
              <a:t>TRABAJO FINAL DEL CURSO · AI-900T00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011680"/>
            <a:ext cx="106070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600" b="0" i="0">
                <a:solidFill>
                  <a:srgbClr val="161D2F"/>
                </a:solidFill>
                <a:latin typeface="Segoe UI Light"/>
              </a:rPr>
              <a:t>Nova</a:t>
            </a:r>
          </a:p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2500" b="0" i="0">
                <a:solidFill>
                  <a:srgbClr val="161D2F"/>
                </a:solidFill>
                <a:latin typeface="Segoe UI Light"/>
              </a:rPr>
              <a:t>Chatbot inteligente para el E-commerce de InnovVentas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4114800"/>
            <a:ext cx="2011680" cy="317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434340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64748B"/>
                </a:solidFill>
                <a:latin typeface="Segoe UI"/>
              </a:rPr>
              <a:t>Conceptos Básicos de IA en Microsoft Azure · Tecnologías de la Información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61D2F"/>
                </a:solidFill>
                <a:latin typeface="Segoe UI Semibold"/>
              </a:rPr>
              <a:t>Equipo:  </a:t>
            </a:r>
            <a:r>
              <a:rPr sz="1400" b="0" i="0">
                <a:solidFill>
                  <a:srgbClr val="64748B"/>
                </a:solidFill>
                <a:latin typeface="Segoe UI"/>
              </a:rPr>
              <a:t>Hugo André Cahua Solano · Henry Humberto Cruces Castro · Jean Beckan Olivitos Villanueva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566928"/>
            <a:ext cx="27432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6012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CONTENIDO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0" i="0">
                <a:solidFill>
                  <a:srgbClr val="161D2F"/>
                </a:solidFill>
                <a:latin typeface="Segoe UI Light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27632"/>
            <a:ext cx="566928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2011680"/>
            <a:ext cx="5120640" cy="621792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011680"/>
            <a:ext cx="6400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563EB"/>
                </a:solidFill>
                <a:latin typeface="Segoe UI Semibol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4208" y="2011680"/>
            <a:ext cx="41605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61D2F"/>
                </a:solidFill>
                <a:latin typeface="Segoe UI"/>
              </a:rPr>
              <a:t>Diagnóstico: contexto y problemas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834640"/>
            <a:ext cx="5120640" cy="621792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834640"/>
            <a:ext cx="6400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563EB"/>
                </a:solidFill>
                <a:latin typeface="Segoe UI Semibol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834640"/>
            <a:ext cx="41605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61D2F"/>
                </a:solidFill>
                <a:latin typeface="Segoe UI"/>
              </a:rPr>
              <a:t>Causa raíz y propuesta de valor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657600"/>
            <a:ext cx="5120640" cy="621792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657600"/>
            <a:ext cx="6400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563EB"/>
                </a:solidFill>
                <a:latin typeface="Segoe UI Semibol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3657600"/>
            <a:ext cx="41605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61D2F"/>
                </a:solidFill>
                <a:latin typeface="Segoe UI"/>
              </a:rPr>
              <a:t>La solución: Nova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4480560"/>
            <a:ext cx="5120640" cy="621792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480560"/>
            <a:ext cx="6400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563EB"/>
                </a:solidFill>
                <a:latin typeface="Segoe UI Semibold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64208" y="4480560"/>
            <a:ext cx="41605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61D2F"/>
                </a:solidFill>
                <a:latin typeface="Segoe UI"/>
              </a:rPr>
              <a:t>Decisión tecnológica y costos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011680"/>
            <a:ext cx="5120640" cy="621792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011680"/>
            <a:ext cx="6400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563EB"/>
                </a:solidFill>
                <a:latin typeface="Segoe UI Semibold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2011680"/>
            <a:ext cx="41605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61D2F"/>
                </a:solidFill>
                <a:latin typeface="Segoe UI"/>
              </a:rPr>
              <a:t>Diseño: FAQs, flujo y arquitectura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2834640"/>
            <a:ext cx="5120640" cy="621792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2834640"/>
            <a:ext cx="6400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563EB"/>
                </a:solidFill>
                <a:latin typeface="Segoe UI Semibold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2834640"/>
            <a:ext cx="41605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61D2F"/>
                </a:solidFill>
                <a:latin typeface="Segoe UI"/>
              </a:rPr>
              <a:t>Plan de implementación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3657600"/>
            <a:ext cx="5120640" cy="621792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3657600"/>
            <a:ext cx="6400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563EB"/>
                </a:solidFill>
                <a:latin typeface="Segoe UI Semibold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657600"/>
            <a:ext cx="41605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61D2F"/>
                </a:solidFill>
                <a:latin typeface="Segoe UI"/>
              </a:rPr>
              <a:t>Métricas y preguntas guía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4480560"/>
            <a:ext cx="5120640" cy="621792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480560"/>
            <a:ext cx="6400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563EB"/>
                </a:solidFill>
                <a:latin typeface="Segoe UI Semibold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480560"/>
            <a:ext cx="41605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61D2F"/>
                </a:solidFill>
                <a:latin typeface="Segoe UI"/>
              </a:rPr>
              <a:t>Demo en vivo y conclusiones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" y="641908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InnovVentas · Chatbot Nova · AI-900T00 · SENATI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419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566928"/>
            <a:ext cx="27432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6012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DIAGNÓSTICO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0" i="0">
                <a:solidFill>
                  <a:srgbClr val="161D2F"/>
                </a:solidFill>
                <a:latin typeface="Segoe UI Light"/>
              </a:rPr>
              <a:t>Contexto: InnovVentas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27632"/>
            <a:ext cx="566928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548640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200"/>
              </a:spcAft>
            </a:pPr>
            <a:r>
              <a:rPr sz="1600" b="0" i="0">
                <a:solidFill>
                  <a:srgbClr val="161D2F"/>
                </a:solidFill>
                <a:latin typeface="Segoe UI"/>
              </a:rPr>
              <a:t>Empresa peruana especializada en la comercialización de productos tecnológicos. Su principal canal de ventas es el E-commerce.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64748B"/>
                </a:solidFill>
                <a:latin typeface="Segoe UI"/>
              </a:rPr>
              <a:t>Presenta una baja interacción en su sitio web que impacta las ventas y la retención: los usuarios abandonan la compra por falta de respuestas rápidas a sus dudas.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37960" y="1810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563EB"/>
                </a:solidFill>
                <a:latin typeface="Segoe UI Semibold"/>
              </a:rPr>
              <a:t>NECESIDADES DEL CLIENTE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0" y="2240280"/>
            <a:ext cx="4800600" cy="74980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240280"/>
            <a:ext cx="438912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61D2F"/>
                </a:solidFill>
                <a:latin typeface="Segoe UI Semibold"/>
              </a:rPr>
              <a:t>Inmediatez — </a:t>
            </a:r>
            <a:r>
              <a:rPr sz="1300" b="0" i="0">
                <a:solidFill>
                  <a:srgbClr val="64748B"/>
                </a:solidFill>
                <a:latin typeface="Segoe UI"/>
              </a:rPr>
              <a:t>Respuestas en segundos, 24/7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3108960"/>
            <a:ext cx="4800600" cy="74980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3108960"/>
            <a:ext cx="438912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61D2F"/>
                </a:solidFill>
                <a:latin typeface="Segoe UI Semibold"/>
              </a:rPr>
              <a:t>Cobertura — </a:t>
            </a:r>
            <a:r>
              <a:rPr sz="1300" b="0" i="0">
                <a:solidFill>
                  <a:srgbClr val="64748B"/>
                </a:solidFill>
                <a:latin typeface="Segoe UI"/>
              </a:rPr>
              <a:t>Antes, durante y después de la compra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3977639"/>
            <a:ext cx="4800600" cy="74980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3977639"/>
            <a:ext cx="438912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61D2F"/>
                </a:solidFill>
                <a:latin typeface="Segoe UI Semibold"/>
              </a:rPr>
              <a:t>Integración — </a:t>
            </a:r>
            <a:r>
              <a:rPr sz="1300" b="0" i="0">
                <a:solidFill>
                  <a:srgbClr val="64748B"/>
                </a:solidFill>
                <a:latin typeface="Segoe UI"/>
              </a:rPr>
              <a:t>No intrusiva, sobre el sitio actual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4846320"/>
            <a:ext cx="4800600" cy="74980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0" y="4846320"/>
            <a:ext cx="438912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61D2F"/>
                </a:solidFill>
                <a:latin typeface="Segoe UI Semibold"/>
              </a:rPr>
              <a:t>Métricas — </a:t>
            </a:r>
            <a:r>
              <a:rPr sz="1300" b="0" i="0">
                <a:solidFill>
                  <a:srgbClr val="64748B"/>
                </a:solidFill>
                <a:latin typeface="Segoe UI"/>
              </a:rPr>
              <a:t>Medir impacto en ventas y abandono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641908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InnovVentas · Chatbot Nova · AI-900T00 · SENATI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19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566928"/>
            <a:ext cx="27432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6012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DIAGNÓSTICO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0" i="0">
                <a:solidFill>
                  <a:srgbClr val="161D2F"/>
                </a:solidFill>
                <a:latin typeface="Segoe UI Light"/>
              </a:rPr>
              <a:t>Problemas en el flujo de E-commerce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27632"/>
            <a:ext cx="566928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2057400"/>
            <a:ext cx="5120640" cy="1600200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2057400"/>
            <a:ext cx="91440" cy="1600200"/>
          </a:xfrm>
          <a:prstGeom prst="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1288" y="2258568"/>
            <a:ext cx="4572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61D2F"/>
                </a:solidFill>
                <a:latin typeface="Segoe UI Semibold"/>
              </a:rPr>
              <a:t>Carritos abandonados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4748B"/>
                </a:solidFill>
                <a:latin typeface="Segoe UI"/>
              </a:rPr>
              <a:t>Los usuarios dejan la compra a medias por dudas no resueltas a tiempo.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81928" y="2057400"/>
            <a:ext cx="5120640" cy="1600200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81928" y="2057400"/>
            <a:ext cx="91440" cy="1600200"/>
          </a:xfrm>
          <a:prstGeom prst="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01968" y="2258568"/>
            <a:ext cx="4572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61D2F"/>
                </a:solidFill>
                <a:latin typeface="Segoe UI Semibold"/>
              </a:rPr>
              <a:t>Consultas sin respuesta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4748B"/>
                </a:solidFill>
                <a:latin typeface="Segoe UI"/>
              </a:rPr>
              <a:t>Especificaciones, métodos de pago y disponibilidad sin atención inmediata.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931920"/>
            <a:ext cx="5120640" cy="1600200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8" y="3931920"/>
            <a:ext cx="91440" cy="1600200"/>
          </a:xfrm>
          <a:prstGeom prst="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61288" y="4133087"/>
            <a:ext cx="4572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61D2F"/>
                </a:solidFill>
                <a:latin typeface="Segoe UI Semibold"/>
              </a:rPr>
              <a:t>Soporte lento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4748B"/>
                </a:solidFill>
                <a:latin typeface="Segoe UI"/>
              </a:rPr>
              <a:t>Tickets que tardan 24–48 h generan insatisfacción y fuga a la competencia.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1928" y="3931920"/>
            <a:ext cx="5120640" cy="1600200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1928" y="3931920"/>
            <a:ext cx="91440" cy="1600200"/>
          </a:xfrm>
          <a:prstGeom prst="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4133087"/>
            <a:ext cx="4572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61D2F"/>
                </a:solidFill>
                <a:latin typeface="Segoe UI Semibold"/>
              </a:rPr>
              <a:t>Sin visibilidad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4748B"/>
                </a:solidFill>
                <a:latin typeface="Segoe UI"/>
              </a:rPr>
              <a:t>No se miden las interacciones; no se puede optimizar la conversión.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641908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InnovVentas · Chatbot Nova · AI-900T00 · SENATI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19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566928"/>
            <a:ext cx="27432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6012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CAUSA → SOLUCIÓN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0" i="0">
                <a:solidFill>
                  <a:srgbClr val="161D2F"/>
                </a:solidFill>
                <a:latin typeface="Segoe UI Light"/>
              </a:rPr>
              <a:t>De la causa raíz a la solución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27632"/>
            <a:ext cx="566928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288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DC262A"/>
                </a:solidFill>
                <a:latin typeface="Segoe UI Semibold"/>
              </a:rPr>
              <a:t>PROBLEMA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70248" y="18288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B45309"/>
                </a:solidFill>
                <a:latin typeface="Segoe UI Semibold"/>
              </a:rPr>
              <a:t>CAUSA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99248" y="18288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059669"/>
                </a:solidFill>
                <a:latin typeface="Segoe UI Semibold"/>
              </a:rPr>
              <a:t>SOLUCIÓN — NOVA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94560"/>
            <a:ext cx="3017520" cy="1143000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194560"/>
            <a:ext cx="269748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61D2F"/>
                </a:solidFill>
                <a:latin typeface="Segoe UI Semibold"/>
              </a:rPr>
              <a:t>Carritos abandonados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877056" y="2766060"/>
            <a:ext cx="374904" cy="0"/>
          </a:xfrm>
          <a:prstGeom prst="line">
            <a:avLst/>
          </a:prstGeom>
          <a:ln w="2222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270248" y="2194560"/>
            <a:ext cx="3017520" cy="1143000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2194560"/>
            <a:ext cx="269748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61D2F"/>
                </a:solidFill>
                <a:latin typeface="Segoe UI"/>
              </a:rPr>
              <a:t>No hay respuestas rápidas durante la compra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06056" y="2766060"/>
            <a:ext cx="374904" cy="0"/>
          </a:xfrm>
          <a:prstGeom prst="line">
            <a:avLst/>
          </a:prstGeom>
          <a:ln w="22225">
            <a:solidFill>
              <a:srgbClr val="2563E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699248" y="2194560"/>
            <a:ext cx="3657600" cy="114300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82128" y="2194560"/>
            <a:ext cx="333756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61D2F"/>
                </a:solidFill>
                <a:latin typeface="Segoe UI"/>
              </a:rPr>
              <a:t>Nova responde FAQs al instante y guía el checkout.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" y="3493008"/>
            <a:ext cx="3017520" cy="1143000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3493008"/>
            <a:ext cx="269748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61D2F"/>
                </a:solidFill>
                <a:latin typeface="Segoe UI Semibold"/>
              </a:rPr>
              <a:t>Fuga a la competencia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877056" y="4064508"/>
            <a:ext cx="374904" cy="0"/>
          </a:xfrm>
          <a:prstGeom prst="line">
            <a:avLst/>
          </a:prstGeom>
          <a:ln w="2222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270248" y="3493008"/>
            <a:ext cx="3017520" cy="1143000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53128" y="3493008"/>
            <a:ext cx="269748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61D2F"/>
                </a:solidFill>
                <a:latin typeface="Segoe UI"/>
              </a:rPr>
              <a:t>Dudas de specs, pago y stock sin atención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306056" y="4064508"/>
            <a:ext cx="374904" cy="0"/>
          </a:xfrm>
          <a:prstGeom prst="line">
            <a:avLst/>
          </a:prstGeom>
          <a:ln w="22225">
            <a:solidFill>
              <a:srgbClr val="2563E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699248" y="3493008"/>
            <a:ext cx="3657600" cy="114300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82128" y="3493008"/>
            <a:ext cx="333756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61D2F"/>
                </a:solidFill>
                <a:latin typeface="Segoe UI"/>
              </a:rPr>
              <a:t>Atención 24/7 con base de FAQs; deriva a humano si hace falta.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1248" y="4791456"/>
            <a:ext cx="3017520" cy="1143000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4128" y="4791456"/>
            <a:ext cx="269748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61D2F"/>
                </a:solidFill>
                <a:latin typeface="Segoe UI Semibold"/>
              </a:rPr>
              <a:t>Sin mejora continua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877056" y="5362956"/>
            <a:ext cx="374904" cy="0"/>
          </a:xfrm>
          <a:prstGeom prst="line">
            <a:avLst/>
          </a:prstGeom>
          <a:ln w="2222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4270248" y="4791456"/>
            <a:ext cx="3017520" cy="1143000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53128" y="4791456"/>
            <a:ext cx="269748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61D2F"/>
                </a:solidFill>
                <a:latin typeface="Segoe UI"/>
              </a:rPr>
              <a:t>No se miden las interacciones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306056" y="5362956"/>
            <a:ext cx="374904" cy="0"/>
          </a:xfrm>
          <a:prstGeom prst="line">
            <a:avLst/>
          </a:prstGeom>
          <a:ln w="22225">
            <a:solidFill>
              <a:srgbClr val="2563E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699248" y="4791456"/>
            <a:ext cx="3657600" cy="114300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82128" y="4791456"/>
            <a:ext cx="333756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61D2F"/>
                </a:solidFill>
                <a:latin typeface="Segoe UI"/>
              </a:rPr>
              <a:t>Registro de todo + dashboard (CSAT, intenciones, resolución).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" y="641908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InnovVentas · Chatbot Nova · AI-900T00 · SENATI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19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566928"/>
            <a:ext cx="27432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6012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SOLUCIÓN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0" i="0">
                <a:solidFill>
                  <a:srgbClr val="161D2F"/>
                </a:solidFill>
                <a:latin typeface="Segoe UI Light"/>
              </a:rPr>
              <a:t>Nova, el asistente virtual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27632"/>
            <a:ext cx="566928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64748B"/>
                </a:solidFill>
                <a:latin typeface="Segoe UI"/>
              </a:rPr>
              <a:t>Chatbot conversacional embebible en el sitio de InnovVentas. Entiende lenguaje natural con un modelo de lenguaje (LLM) y responde ciñéndose a las FAQs de la empresa; registra cada conversación y mide la satisfacción del cliente.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3063240"/>
            <a:ext cx="5120640" cy="118872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15568" y="3355848"/>
            <a:ext cx="164592" cy="16459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35608" y="3246120"/>
            <a:ext cx="4297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61D2F"/>
                </a:solidFill>
                <a:latin typeface="Segoe UI Semibold"/>
              </a:rPr>
              <a:t>Responde FAQs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Segoe UI"/>
              </a:rPr>
              <a:t>Productos, pagos, envíos, garantías y devoluciones.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81928" y="3063240"/>
            <a:ext cx="5120640" cy="118872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56248" y="3355848"/>
            <a:ext cx="164592" cy="16459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76288" y="3246120"/>
            <a:ext cx="4297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61D2F"/>
                </a:solidFill>
                <a:latin typeface="Segoe UI Semibold"/>
              </a:rPr>
              <a:t>Asiste la compra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Segoe UI"/>
              </a:rPr>
              <a:t>Guía el checkout para reducir el abandono de carrito.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4480560"/>
            <a:ext cx="5120640" cy="118872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15568" y="4773168"/>
            <a:ext cx="164592" cy="16459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35608" y="4663440"/>
            <a:ext cx="4297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61D2F"/>
                </a:solidFill>
                <a:latin typeface="Segoe UI Semibold"/>
              </a:rPr>
              <a:t>Soporte 24/7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Segoe UI"/>
              </a:rPr>
              <a:t>Disponible siempre, con escalado a un humano.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1928" y="4480560"/>
            <a:ext cx="5120640" cy="118872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6248" y="4773168"/>
            <a:ext cx="164592" cy="16459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76288" y="4663440"/>
            <a:ext cx="4297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61D2F"/>
                </a:solidFill>
                <a:latin typeface="Segoe UI Semibold"/>
              </a:rPr>
              <a:t>Mide impacto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Segoe UI"/>
              </a:rPr>
              <a:t>CSAT, intenciones y tasa de resolución en un dashboard.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641908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InnovVentas · Chatbot Nova · AI-900T00 · SENATI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19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566928"/>
            <a:ext cx="27432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6012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SOLUCIÓN · DECISIONES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0" i="0">
                <a:solidFill>
                  <a:srgbClr val="161D2F"/>
                </a:solidFill>
                <a:latin typeface="Segoe UI Light"/>
              </a:rPr>
              <a:t>Decisión tecnológica: Azure y alternativas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27632"/>
            <a:ext cx="566928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28800"/>
            <a:ext cx="104241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64748B"/>
                </a:solidFill>
                <a:latin typeface="Segoe UI"/>
              </a:rPr>
              <a:t>El curso se centra en Azure AI; la opción ideal era Azure AI Language (CLU). Al agotarse el crédito de estudiante de Azure, se optó por alternativas de capa gratuita equivalentes, conservando una arquitectura desacoplada y migrable a Azure.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41648" y="27889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64748B"/>
                </a:solidFill>
                <a:latin typeface="Segoe UI Semibold"/>
              </a:rPr>
              <a:t>OPCIÓN IDEAL (AZURE)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82128" y="27889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059669"/>
                </a:solidFill>
                <a:latin typeface="Segoe UI Semibold"/>
              </a:rPr>
              <a:t>IMPLEMENTADO (GRATIS)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3108960"/>
            <a:ext cx="3017520" cy="60350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3108960"/>
            <a:ext cx="27432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Motor NLP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41648" y="3108960"/>
            <a:ext cx="32918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Segoe UI"/>
              </a:rPr>
              <a:t>Azure AI Language (CLU)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79208" y="3410712"/>
            <a:ext cx="411480" cy="0"/>
          </a:xfrm>
          <a:prstGeom prst="line">
            <a:avLst/>
          </a:prstGeom>
          <a:ln w="22225">
            <a:solidFill>
              <a:srgbClr val="2563E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882128" y="3108960"/>
            <a:ext cx="33832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61D2F"/>
                </a:solidFill>
                <a:latin typeface="Segoe UI Semibold"/>
              </a:rPr>
              <a:t>LLM Groq (Llama 3.3)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803904"/>
            <a:ext cx="3017520" cy="60350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3803904"/>
            <a:ext cx="27432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Backend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41648" y="3803904"/>
            <a:ext cx="32918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Segoe UI"/>
              </a:rPr>
              <a:t>Azure Container Instances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79208" y="4105656"/>
            <a:ext cx="411480" cy="0"/>
          </a:xfrm>
          <a:prstGeom prst="line">
            <a:avLst/>
          </a:prstGeom>
          <a:ln w="22225">
            <a:solidFill>
              <a:srgbClr val="2563E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882128" y="3803904"/>
            <a:ext cx="33832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61D2F"/>
                </a:solidFill>
                <a:latin typeface="Segoe UI Semibold"/>
              </a:rPr>
              <a:t>Render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4498848"/>
            <a:ext cx="3017520" cy="60350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" y="4498848"/>
            <a:ext cx="27432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Base de datos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41648" y="4498848"/>
            <a:ext cx="32918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Segoe UI"/>
              </a:rPr>
              <a:t>Azure DB for PostgreSQL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379208" y="4800600"/>
            <a:ext cx="411480" cy="0"/>
          </a:xfrm>
          <a:prstGeom prst="line">
            <a:avLst/>
          </a:prstGeom>
          <a:ln w="22225">
            <a:solidFill>
              <a:srgbClr val="2563E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882128" y="4498848"/>
            <a:ext cx="33832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61D2F"/>
                </a:solidFill>
                <a:latin typeface="Segoe UI Semibold"/>
              </a:rPr>
              <a:t>PostgreSQL en Neon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5193792"/>
            <a:ext cx="3017520" cy="60350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" y="5193792"/>
            <a:ext cx="27432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Frontend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41648" y="5193792"/>
            <a:ext cx="32918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Segoe UI"/>
              </a:rPr>
              <a:t>Azure Static Web Apps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379208" y="5495544"/>
            <a:ext cx="411480" cy="0"/>
          </a:xfrm>
          <a:prstGeom prst="line">
            <a:avLst/>
          </a:prstGeom>
          <a:ln w="22225">
            <a:solidFill>
              <a:srgbClr val="2563E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882128" y="5193792"/>
            <a:ext cx="33832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61D2F"/>
                </a:solidFill>
                <a:latin typeface="Segoe UI Semibold"/>
              </a:rPr>
              <a:t>Netlify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5943600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1">
                <a:solidFill>
                  <a:srgbClr val="64748B"/>
                </a:solidFill>
                <a:latin typeface="Segoe UI"/>
              </a:rPr>
              <a:t>El motor de IA y la BD se cambian por variables de entorno: se puede volver a Azure sin reescribir el código.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" y="641908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InnovVentas · Chatbot Nova · AI-900T00 · SENATI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419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566928"/>
            <a:ext cx="27432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6012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SOLUCIÓN · TECNOLOGÍA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0" i="0">
                <a:solidFill>
                  <a:srgbClr val="161D2F"/>
                </a:solidFill>
                <a:latin typeface="Segoe UI Light"/>
              </a:rPr>
              <a:t>Stack y justificación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27632"/>
            <a:ext cx="566928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828800"/>
            <a:ext cx="10515600" cy="676656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828800"/>
            <a:ext cx="21031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10128" y="1828800"/>
            <a:ext cx="25603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61D2F"/>
                </a:solidFill>
                <a:latin typeface="Segoe UI Semibold"/>
              </a:rPr>
              <a:t>HTML/CSS/JS vanilla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1888" y="1828800"/>
            <a:ext cx="52120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Segoe UI"/>
              </a:rPr>
              <a:t>Embebible con un &lt;script&gt;, sin dependencias; compatible con cualquier web.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2578608"/>
            <a:ext cx="10515600" cy="676656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2578608"/>
            <a:ext cx="21031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Backend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0128" y="2578608"/>
            <a:ext cx="25603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61D2F"/>
                </a:solidFill>
                <a:latin typeface="Segoe UI Semibold"/>
              </a:rPr>
              <a:t>Python + FastAPI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2578608"/>
            <a:ext cx="52120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Segoe UI"/>
              </a:rPr>
              <a:t>API REST rápida y asíncrona; documentación automática; ecosistema de IA.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328415"/>
            <a:ext cx="10515600" cy="676656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" y="3328415"/>
            <a:ext cx="21031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Motor NLP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0128" y="3328415"/>
            <a:ext cx="25603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61D2F"/>
                </a:solidFill>
                <a:latin typeface="Segoe UI Semibold"/>
              </a:rPr>
              <a:t>LLM Groq (Llama 3.3)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1888" y="3328415"/>
            <a:ext cx="52120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Segoe UI"/>
              </a:rPr>
              <a:t>Entiende lenguaje libre con las FAQs como contexto; intercambiable con Azure CLU.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4078224"/>
            <a:ext cx="10515600" cy="676656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4078224"/>
            <a:ext cx="21031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Base de datos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0128" y="4078224"/>
            <a:ext cx="25603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61D2F"/>
                </a:solidFill>
                <a:latin typeface="Segoe UI Semibold"/>
              </a:rPr>
              <a:t>PostgreSQL (Neon)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1888" y="4078224"/>
            <a:ext cx="52120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Segoe UI"/>
              </a:rPr>
              <a:t>Robusta y open source; ideal para logs y métricas; migrable a Azure DB.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4828032"/>
            <a:ext cx="10515600" cy="676656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5568" y="4828032"/>
            <a:ext cx="21031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Contenedores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10128" y="4828032"/>
            <a:ext cx="25603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61D2F"/>
                </a:solidFill>
                <a:latin typeface="Segoe UI Semibold"/>
              </a:rPr>
              <a:t>Docker + Compose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61888" y="4828032"/>
            <a:ext cx="52120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Segoe UI"/>
              </a:rPr>
              <a:t>Mismo entorno en desarrollo y producción; un comando levanta todo; listo para Azure.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5577840"/>
            <a:ext cx="10515600" cy="676656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5568" y="5577840"/>
            <a:ext cx="21031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Despliegue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10128" y="5577840"/>
            <a:ext cx="25603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61D2F"/>
                </a:solidFill>
                <a:latin typeface="Segoe UI Semibold"/>
              </a:rPr>
              <a:t>Render + Netlify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1888" y="5577840"/>
            <a:ext cx="52120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Segoe UI"/>
              </a:rPr>
              <a:t>Hosting gratuito; el backend resguarda las claves de API (no se exponen).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" y="641908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InnovVentas · Chatbot Nova · AI-900T00 · SENATI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419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566928"/>
            <a:ext cx="27432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6012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SOLUCIÓN · COSTOS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0" i="0">
                <a:solidFill>
                  <a:srgbClr val="161D2F"/>
                </a:solidFill>
                <a:latin typeface="Segoe UI Light"/>
              </a:rPr>
              <a:t>Costos de operación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27632"/>
            <a:ext cx="566928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98848" y="18288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059669"/>
                </a:solidFill>
                <a:latin typeface="Segoe UI Semibold"/>
              </a:rPr>
              <a:t>MVP ACTUAL (CAPA GRATUITA)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73568" y="18288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64748B"/>
                </a:solidFill>
                <a:latin typeface="Segoe UI Semibold"/>
              </a:rPr>
              <a:t>PRODUCCIÓN EN AZURE (ESTIMADO/MES)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2194560"/>
            <a:ext cx="10515600" cy="5669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2194560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61D2F"/>
                </a:solidFill>
                <a:latin typeface="Segoe UI Semibold"/>
              </a:rPr>
              <a:t>Motor NLP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8848" y="2194560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59669"/>
                </a:solidFill>
                <a:latin typeface="Segoe UI"/>
              </a:rPr>
              <a:t>Groq — Free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73568" y="2194560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Segoe UI"/>
              </a:rPr>
              <a:t>Azure AI Language ≈ $25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834639"/>
            <a:ext cx="10515600" cy="5669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" y="2834639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61D2F"/>
                </a:solidFill>
                <a:latin typeface="Segoe UI Semibold"/>
              </a:rPr>
              <a:t>Backend / 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8" y="2834639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59669"/>
                </a:solidFill>
                <a:latin typeface="Segoe UI"/>
              </a:rPr>
              <a:t>Render — Free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3568" y="2834639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Segoe UI"/>
              </a:rPr>
              <a:t>Azure App Service (B1) ≈ $13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3474720"/>
            <a:ext cx="10515600" cy="5669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9848" y="3474720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61D2F"/>
                </a:solidFill>
                <a:latin typeface="Segoe UI Semibold"/>
              </a:rPr>
              <a:t>Base de datos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98848" y="3474720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59669"/>
                </a:solidFill>
                <a:latin typeface="Segoe UI"/>
              </a:rPr>
              <a:t>Neon — Free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3474720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Segoe UI"/>
              </a:rPr>
              <a:t>Azure DB PostgreSQL ≈ $20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4114800"/>
            <a:ext cx="10515600" cy="5669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9848" y="4114800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61D2F"/>
                </a:solidFill>
                <a:latin typeface="Segoe UI Semibold"/>
              </a:rPr>
              <a:t>Frontend / Hosting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4114800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59669"/>
                </a:solidFill>
                <a:latin typeface="Segoe UI"/>
              </a:rPr>
              <a:t>Netlify — Free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73568" y="4114800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Segoe UI"/>
              </a:rPr>
              <a:t>Azure Static Web Apps ≈ $0–9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1248" y="4754880"/>
            <a:ext cx="10515600" cy="56692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9848" y="4754880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61D2F"/>
                </a:solidFill>
                <a:latin typeface="Segoe UI Semibold"/>
              </a:rPr>
              <a:t>Dominio + SSL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98848" y="4754880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59669"/>
                </a:solidFill>
                <a:latin typeface="Segoe UI"/>
              </a:rPr>
              <a:t>Incluido — Free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73568" y="4754880"/>
            <a:ext cx="3200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Segoe UI"/>
              </a:rPr>
              <a:t>≈ $2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" y="5394960"/>
            <a:ext cx="10515600" cy="640080"/>
          </a:xfrm>
          <a:prstGeom prst="roundRect">
            <a:avLst>
              <a:gd name="adj" fmla="val 6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9848" y="5394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 Semibold"/>
              </a:rPr>
              <a:t>TOTAL MENSUAL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98848" y="539496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US$ 0 / mes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73568" y="539496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FFFFFF"/>
                </a:solidFill>
                <a:latin typeface="Segoe UI"/>
              </a:rPr>
              <a:t>≈ US$ 60 / mes (estimado)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5989320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64748B"/>
                </a:solidFill>
                <a:latin typeface="Segoe UI"/>
              </a:rPr>
              <a:t>Desarrollo: equipo de 3 personas, ~4 semanas (costo académico). Cifras de Azure referenciales según volumen.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" y="641908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InnovVentas · Chatbot Nova · AI-900T00 · SENATI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419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566928"/>
            <a:ext cx="27432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6012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SOLUCIÓN · RETORNO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0" i="0">
                <a:solidFill>
                  <a:srgbClr val="161D2F"/>
                </a:solidFill>
                <a:latin typeface="Segoe UI Light"/>
              </a:rPr>
              <a:t>Retorno de inversión: cómo gana InnovVentas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27632"/>
            <a:ext cx="566928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874519"/>
            <a:ext cx="2468880" cy="1463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2416" y="2075688"/>
            <a:ext cx="146304" cy="1463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2304288"/>
            <a:ext cx="2121408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61D2F"/>
                </a:solidFill>
                <a:latin typeface="Segoe UI Semibold"/>
              </a:rPr>
              <a:t>Ventas recuperadas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64748B"/>
                </a:solidFill>
                <a:latin typeface="Segoe UI"/>
              </a:rPr>
              <a:t>Resuelve la duda en el momento de la compra → menos carritos abandonados.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1296" y="1874519"/>
            <a:ext cx="2468880" cy="1463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712464" y="2075688"/>
            <a:ext cx="146304" cy="1463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12464" y="2304288"/>
            <a:ext cx="2121408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61D2F"/>
                </a:solidFill>
                <a:latin typeface="Segoe UI Semibold"/>
              </a:rPr>
              <a:t>Ahorro en soporte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64748B"/>
                </a:solidFill>
                <a:latin typeface="Segoe UI"/>
              </a:rPr>
              <a:t>Automatiza consultas repetitivas → menos tickets y horas-persona.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874519"/>
            <a:ext cx="2468880" cy="1463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82512" y="2075688"/>
            <a:ext cx="146304" cy="1463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2304288"/>
            <a:ext cx="2121408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61D2F"/>
                </a:solidFill>
                <a:latin typeface="Segoe UI Semibold"/>
              </a:rPr>
              <a:t>Retención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64748B"/>
                </a:solidFill>
                <a:latin typeface="Segoe UI"/>
              </a:rPr>
              <a:t>Atención inmediata 24/7 → mejor experiencia y clientes que vuelven.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51392" y="1874519"/>
            <a:ext cx="2468880" cy="14630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52560" y="2075688"/>
            <a:ext cx="146304" cy="1463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2304288"/>
            <a:ext cx="2121408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61D2F"/>
                </a:solidFill>
                <a:latin typeface="Segoe UI Semibold"/>
              </a:rPr>
              <a:t>Datos accionables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64748B"/>
                </a:solidFill>
                <a:latin typeface="Segoe UI"/>
              </a:rPr>
              <a:t>El dashboard revela qué se pregunta → mejora catálogo, precios y FAQs.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3566160"/>
            <a:ext cx="10515600" cy="22860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61288" y="3749039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563EB"/>
                </a:solidFill>
                <a:latin typeface="Segoe UI Semibold"/>
              </a:rPr>
              <a:t>ESTIMACIÓN ILUSTRATIVA (SUPUESTOS DECLARADOS)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1288" y="4114800"/>
            <a:ext cx="3840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4748B"/>
                </a:solidFill>
                <a:latin typeface="Segoe UI"/>
              </a:rPr>
              <a:t>Ticket promedio (AOV)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01768" y="4114800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61D2F"/>
                </a:solidFill>
                <a:latin typeface="Segoe UI Semibold"/>
              </a:rPr>
              <a:t>S/ 850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" y="4425696"/>
            <a:ext cx="3840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4748B"/>
                </a:solidFill>
                <a:latin typeface="Segoe UI"/>
              </a:rPr>
              <a:t>Carritos abandonados / mes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01768" y="4425696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61D2F"/>
                </a:solidFill>
                <a:latin typeface="Segoe UI Semibold"/>
              </a:rPr>
              <a:t>~700  (70% de 1,000)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61288" y="4736592"/>
            <a:ext cx="3840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4748B"/>
                </a:solidFill>
                <a:latin typeface="Segoe UI"/>
              </a:rPr>
              <a:t>Recuperación conservadora del bot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01768" y="4736592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61D2F"/>
                </a:solidFill>
                <a:latin typeface="Segoe UI Semibold"/>
              </a:rPr>
              <a:t>5%  →  35 pedidos / mes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61288" y="5047488"/>
            <a:ext cx="3840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4748B"/>
                </a:solidFill>
                <a:latin typeface="Segoe UI"/>
              </a:rPr>
              <a:t>Ingreso adicional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01768" y="5047488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61D2F"/>
                </a:solidFill>
                <a:latin typeface="Segoe UI Semibold"/>
              </a:rPr>
              <a:t>35 × S/ 850 ≈ S/ 29,750 / mes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61288" y="5358383"/>
            <a:ext cx="3840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4748B"/>
                </a:solidFill>
                <a:latin typeface="Segoe UI"/>
              </a:rPr>
              <a:t>Costo de operación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01768" y="5358383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61D2F"/>
                </a:solidFill>
                <a:latin typeface="Segoe UI Semibold"/>
              </a:rPr>
              <a:t>≈ US$ 60 / mes  (US$ 0 en el MVP)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70648" y="3840480"/>
            <a:ext cx="3611880" cy="182880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99248" y="4041648"/>
            <a:ext cx="3200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059669"/>
                </a:solidFill>
                <a:latin typeface="Segoe UI Semibold"/>
              </a:rPr>
              <a:t>PAYBACK INMEDIATO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161D2F"/>
                </a:solidFill>
                <a:latin typeface="Segoe UI"/>
              </a:rPr>
              <a:t>El costo de operación es casi nulo: recuperando apenas 1–2 ventas al mes el chatbot ya se paga.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64748B"/>
                </a:solidFill>
                <a:latin typeface="Segoe UI"/>
              </a:rPr>
              <a:t>Cada venta recuperada es casi ganancia neta.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641908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InnovVentas · Chatbot Nova · AI-900T00 · SENATI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19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566928"/>
            <a:ext cx="27432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6012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SOLUCIÓN · DISEÑO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0" i="0">
                <a:solidFill>
                  <a:srgbClr val="161D2F"/>
                </a:solidFill>
                <a:latin typeface="Segoe UI Light"/>
              </a:rPr>
              <a:t>Base de conocimiento: FAQs por categoría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27632"/>
            <a:ext cx="566928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205740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258568"/>
            <a:ext cx="28346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563EB"/>
                </a:solidFill>
                <a:latin typeface="Segoe UI Semibold"/>
              </a:rPr>
              <a:t>01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161D2F"/>
                </a:solidFill>
                <a:latin typeface="Segoe UI Semibold"/>
              </a:rPr>
              <a:t>Productos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4748B"/>
                </a:solidFill>
                <a:latin typeface="Segoe UI"/>
              </a:rPr>
              <a:t>Especificaciones, stock y garantía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1688" y="205740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258568"/>
            <a:ext cx="28346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563EB"/>
                </a:solidFill>
                <a:latin typeface="Segoe UI Semibold"/>
              </a:rPr>
              <a:t>02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161D2F"/>
                </a:solidFill>
                <a:latin typeface="Segoe UI Semibold"/>
              </a:rPr>
              <a:t>Precios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4748B"/>
                </a:solidFill>
                <a:latin typeface="Segoe UI"/>
              </a:rPr>
              <a:t>Precios con IGV, descuentos y cupones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82128" y="205740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258568"/>
            <a:ext cx="28346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563EB"/>
                </a:solidFill>
                <a:latin typeface="Segoe UI Semibold"/>
              </a:rPr>
              <a:t>03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161D2F"/>
                </a:solidFill>
                <a:latin typeface="Segoe UI Semibold"/>
              </a:rPr>
              <a:t>Métodos de pago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4748B"/>
                </a:solidFill>
                <a:latin typeface="Segoe UI"/>
              </a:rPr>
              <a:t>Yape, Plin, tarjetas y cuotas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65760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858768"/>
            <a:ext cx="28346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563EB"/>
                </a:solidFill>
                <a:latin typeface="Segoe UI Semibold"/>
              </a:rPr>
              <a:t>04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161D2F"/>
                </a:solidFill>
                <a:latin typeface="Segoe UI Semibold"/>
              </a:rPr>
              <a:t>Proceso de compra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4748B"/>
                </a:solidFill>
                <a:latin typeface="Segoe UI"/>
              </a:rPr>
              <a:t>Pasos, compra invitado, cancelación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8" y="365760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3858768"/>
            <a:ext cx="28346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563EB"/>
                </a:solidFill>
                <a:latin typeface="Segoe UI Semibold"/>
              </a:rPr>
              <a:t>05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161D2F"/>
                </a:solidFill>
                <a:latin typeface="Segoe UI Semibold"/>
              </a:rPr>
              <a:t>Envíos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4748B"/>
                </a:solidFill>
                <a:latin typeface="Segoe UI"/>
              </a:rPr>
              <a:t>Tiempos, costos y rastreo de pedidos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8" y="365760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3858768"/>
            <a:ext cx="28346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563EB"/>
                </a:solidFill>
                <a:latin typeface="Segoe UI Semibold"/>
              </a:rPr>
              <a:t>06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161D2F"/>
                </a:solidFill>
                <a:latin typeface="Segoe UI Semibold"/>
              </a:rPr>
              <a:t>Soporte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4748B"/>
                </a:solidFill>
                <a:latin typeface="Segoe UI"/>
              </a:rPr>
              <a:t>Garantías, devoluciones y post-venta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548640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64748B"/>
                </a:solidFill>
                <a:latin typeface="Segoe UI"/>
              </a:rPr>
              <a:t>Personalidad: «Nova», tono amigable y conciso, en español peruano. Umbral de confianza con derivación a humano (fallback).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641908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InnovVentas · Chatbot Nova · AI-900T00 · SENATI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19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566928"/>
            <a:ext cx="27432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6012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SOLUCIÓN · DISEÑO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0" i="0">
                <a:solidFill>
                  <a:srgbClr val="161D2F"/>
                </a:solidFill>
                <a:latin typeface="Segoe UI Light"/>
              </a:rPr>
              <a:t>Flujo conversacional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27632"/>
            <a:ext cx="566928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2468880"/>
            <a:ext cx="1874519" cy="105156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468880"/>
            <a:ext cx="1874519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61D2F"/>
                </a:solidFill>
                <a:latin typeface="Segoe UI Semibold"/>
              </a:rPr>
              <a:t>Usuario
escribe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715767" y="2994660"/>
            <a:ext cx="256032" cy="0"/>
          </a:xfrm>
          <a:prstGeom prst="line">
            <a:avLst/>
          </a:prstGeom>
          <a:ln w="22225">
            <a:solidFill>
              <a:srgbClr val="2563E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971799" y="2468880"/>
            <a:ext cx="1874519" cy="105156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799" y="2468880"/>
            <a:ext cx="1874519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61D2F"/>
                </a:solidFill>
                <a:latin typeface="Segoe UI Semibold"/>
              </a:rPr>
              <a:t>Nova procesa
(LLM + FAQs)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846318" y="2994660"/>
            <a:ext cx="256032" cy="0"/>
          </a:xfrm>
          <a:prstGeom prst="line">
            <a:avLst/>
          </a:prstGeom>
          <a:ln w="22225">
            <a:solidFill>
              <a:srgbClr val="2563E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102350" y="2468880"/>
            <a:ext cx="1874519" cy="105156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02350" y="2468880"/>
            <a:ext cx="1874519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61D2F"/>
                </a:solidFill>
                <a:latin typeface="Segoe UI Semibold"/>
              </a:rPr>
              <a:t>Responde con
la FAQ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76869" y="2994660"/>
            <a:ext cx="256032" cy="0"/>
          </a:xfrm>
          <a:prstGeom prst="line">
            <a:avLst/>
          </a:prstGeom>
          <a:ln w="22225">
            <a:solidFill>
              <a:srgbClr val="2563E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232901" y="2468880"/>
            <a:ext cx="1874519" cy="105156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1" y="2468880"/>
            <a:ext cx="1874519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61D2F"/>
                </a:solidFill>
                <a:latin typeface="Segoe UI Semibold"/>
              </a:rPr>
              <a:t>Registra en
PostgreSQL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107420" y="2994660"/>
            <a:ext cx="256032" cy="0"/>
          </a:xfrm>
          <a:prstGeom prst="line">
            <a:avLst/>
          </a:prstGeom>
          <a:ln w="22225">
            <a:solidFill>
              <a:srgbClr val="2563E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363452" y="2468880"/>
            <a:ext cx="1874519" cy="105156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63452" y="2468880"/>
            <a:ext cx="1874519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61D2F"/>
                </a:solidFill>
                <a:latin typeface="Segoe UI Semibold"/>
              </a:rPr>
              <a:t>Encuesta CSAT
y cierre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4069080"/>
            <a:ext cx="10515600" cy="86868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5568" y="4069080"/>
            <a:ext cx="1005840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61D2F"/>
                </a:solidFill>
                <a:latin typeface="Segoe UI"/>
              </a:rPr>
              <a:t>Si la consulta no está cubierta por las FAQs → Nova lo reconoce (no inventa) y deriva a soporte / agente humano, registrando el caso como fallback para mejorar la base de conocimiento.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641908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InnovVentas · Chatbot Nova · AI-900T00 · SENATI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19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566928"/>
            <a:ext cx="27432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6012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SOLUCIÓN · DISEÑO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0" i="0">
                <a:solidFill>
                  <a:srgbClr val="161D2F"/>
                </a:solidFill>
                <a:latin typeface="Segoe UI Light"/>
              </a:rPr>
              <a:t>Arquitectura técnica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27632"/>
            <a:ext cx="566928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108960" y="1828800"/>
            <a:ext cx="5943600" cy="8686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1828800"/>
            <a:ext cx="594360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61D2F"/>
                </a:solidFill>
                <a:latin typeface="Segoe UI Semibold"/>
              </a:rPr>
              <a:t>FRONTEND — Widget embebible + Tienda  (Netlify)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80760" y="2697480"/>
            <a:ext cx="0" cy="365760"/>
          </a:xfrm>
          <a:prstGeom prst="line">
            <a:avLst/>
          </a:prstGeom>
          <a:ln w="22225">
            <a:solidFill>
              <a:srgbClr val="2563E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217920" y="2724912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64748B"/>
                </a:solidFill>
                <a:latin typeface="Segoe UI"/>
              </a:rPr>
              <a:t>HTTPS · POST /api/chat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08960" y="3108960"/>
            <a:ext cx="5943600" cy="868680"/>
          </a:xfrm>
          <a:prstGeom prst="roundRect">
            <a:avLst>
              <a:gd name="adj" fmla="val 6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08960" y="3108960"/>
            <a:ext cx="594360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 Semibold"/>
              </a:rPr>
              <a:t>BACKEND — API REST FastAPI  (Render)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4023360" y="3977639"/>
            <a:ext cx="731520" cy="457201"/>
          </a:xfrm>
          <a:prstGeom prst="line">
            <a:avLst/>
          </a:prstGeom>
          <a:ln w="22225">
            <a:solidFill>
              <a:srgbClr val="2563E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406640" y="3977639"/>
            <a:ext cx="731520" cy="457201"/>
          </a:xfrm>
          <a:prstGeom prst="line">
            <a:avLst/>
          </a:prstGeom>
          <a:ln w="22225">
            <a:solidFill>
              <a:srgbClr val="2563E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1554480" y="4480560"/>
            <a:ext cx="4206240" cy="105156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54480" y="4480560"/>
            <a:ext cx="420624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563EB"/>
                </a:solidFill>
                <a:latin typeface="Segoe UI Semibold"/>
              </a:rPr>
              <a:t>MOTOR NLP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61D2F"/>
                </a:solidFill>
                <a:latin typeface="Segoe UI"/>
              </a:rPr>
              <a:t>LLM Groq (Llama 3.3) + FAQs
Alternativa: Azure AI Language (CLU)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4480560"/>
            <a:ext cx="4206240" cy="105156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480560"/>
            <a:ext cx="420624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563EB"/>
                </a:solidFill>
                <a:latin typeface="Segoe UI Semibold"/>
              </a:rPr>
              <a:t>BASE DE DATOS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61D2F"/>
                </a:solidFill>
                <a:latin typeface="Segoe UI"/>
              </a:rPr>
              <a:t>PostgreSQL (Neon)
faqs · chat_logs · sessions · feedback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5806440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64748B"/>
                </a:solidFill>
                <a:latin typeface="Segoe UI"/>
              </a:rPr>
              <a:t>Piezas intercambiables (variables de entorno).  ·  Seguridad: HTTPS, claves solo en el backend y sin datos personales sensibles (Ley N° 29733).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641908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InnovVentas · Chatbot Nova · AI-900T00 · SENATI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19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566928"/>
            <a:ext cx="27432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6012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SOLUCIÓN · DISEÑO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0" i="0">
                <a:solidFill>
                  <a:srgbClr val="161D2F"/>
                </a:solidFill>
                <a:latin typeface="Segoe UI Light"/>
              </a:rPr>
              <a:t>Modelo de datos y entorno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27632"/>
            <a:ext cx="566928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2880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563EB"/>
                </a:solidFill>
                <a:latin typeface="Segoe UI Semibold"/>
              </a:rPr>
              <a:t>ENTORNO — DOCKER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2295144"/>
            <a:ext cx="128016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2203704"/>
            <a:ext cx="45262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61D2F"/>
                </a:solidFill>
                <a:latin typeface="Segoe UI"/>
              </a:rPr>
              <a:t>Docker + Docker Compose: un comando (docker-compose up) levanta el backend y PostgreSQL juntos.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255264"/>
            <a:ext cx="128016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3163824"/>
            <a:ext cx="45262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61D2F"/>
                </a:solidFill>
                <a:latin typeface="Segoe UI"/>
              </a:rPr>
              <a:t>Mismo entorno en desarrollo (Windows 11) y producción → portabilidad; listo para Azure Container Instances.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4215383"/>
            <a:ext cx="128016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856" y="4123944"/>
            <a:ext cx="45262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61D2F"/>
                </a:solidFill>
                <a:latin typeface="Segoe UI"/>
              </a:rPr>
              <a:t>init.sql crea el esquema y carga las 18 FAQs al iniciar la base de datos.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82880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563EB"/>
                </a:solidFill>
                <a:latin typeface="Segoe UI Semibold"/>
              </a:rPr>
              <a:t>MODELO DE DATOS — POSTGRESQL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2240280"/>
            <a:ext cx="4937760" cy="713232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2240280"/>
            <a:ext cx="4572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563EB"/>
                </a:solidFill>
                <a:latin typeface="Segoe UI Semibold"/>
              </a:rPr>
              <a:t>faqs   </a:t>
            </a:r>
            <a:r>
              <a:rPr sz="1100" b="0" i="0">
                <a:solidFill>
                  <a:srgbClr val="64748B"/>
                </a:solidFill>
                <a:latin typeface="Segoe UI"/>
              </a:rPr>
              <a:t>— base de conocimiento: intención, pregunta, respuesta, keywords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063240"/>
            <a:ext cx="4937760" cy="713232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3063240"/>
            <a:ext cx="4572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563EB"/>
                </a:solidFill>
                <a:latin typeface="Segoe UI Semibold"/>
              </a:rPr>
              <a:t>sessions   </a:t>
            </a:r>
            <a:r>
              <a:rPr sz="1100" b="0" i="0">
                <a:solidFill>
                  <a:srgbClr val="64748B"/>
                </a:solidFill>
                <a:latin typeface="Segoe UI"/>
              </a:rPr>
              <a:t>— sesiones: inicio/fin, resuelto, escalado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3886200"/>
            <a:ext cx="4937760" cy="713232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3886200"/>
            <a:ext cx="4572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563EB"/>
                </a:solidFill>
                <a:latin typeface="Segoe UI Semibold"/>
              </a:rPr>
              <a:t>chat_logs   </a:t>
            </a:r>
            <a:r>
              <a:rPr sz="1100" b="0" i="0">
                <a:solidFill>
                  <a:srgbClr val="64748B"/>
                </a:solidFill>
                <a:latin typeface="Segoe UI"/>
              </a:rPr>
              <a:t>— cada mensaje + intención + confianza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4709160"/>
            <a:ext cx="4937760" cy="713232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4709160"/>
            <a:ext cx="457200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563EB"/>
                </a:solidFill>
                <a:latin typeface="Segoe UI Semibold"/>
              </a:rPr>
              <a:t>feedback   </a:t>
            </a:r>
            <a:r>
              <a:rPr sz="1100" b="0" i="0">
                <a:solidFill>
                  <a:srgbClr val="64748B"/>
                </a:solidFill>
                <a:latin typeface="Segoe UI"/>
              </a:rPr>
              <a:t>— calificación CSAT (1–5)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897880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64748B"/>
                </a:solidFill>
                <a:latin typeface="Segoe UI"/>
              </a:rPr>
              <a:t>Además, vistas SQL para el dashboard (v_daily_metrics, v_top_intents). Cada respuesta queda registrada → es la base de las métricas.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641908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InnovVentas · Chatbot Nova · AI-900T00 · SENATI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19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566928"/>
            <a:ext cx="27432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6012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IMPLEMENTACIÓN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0" i="0">
                <a:solidFill>
                  <a:srgbClr val="161D2F"/>
                </a:solidFill>
                <a:latin typeface="Segoe UI Light"/>
              </a:rPr>
              <a:t>Pasos para integrar el chatbot al sitio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27632"/>
            <a:ext cx="566928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32688" y="2670048"/>
            <a:ext cx="1024128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41248" y="2743200"/>
            <a:ext cx="1938528" cy="15544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907792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600" b="0" i="0">
                <a:solidFill>
                  <a:srgbClr val="2563EB"/>
                </a:solidFill>
                <a:latin typeface="Segoe UI Light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401568"/>
            <a:ext cx="171907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61D2F"/>
                </a:solidFill>
                <a:latin typeface="Segoe UI Semibold"/>
              </a:rPr>
              <a:t>Diseño y FAQs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64748B"/>
                </a:solidFill>
                <a:latin typeface="Segoe UI"/>
              </a:rPr>
              <a:t>Levantar FAQs con ventas; definir flujo e intenciones.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44368" y="2743200"/>
            <a:ext cx="1938528" cy="15544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44368" y="2907792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600" b="0" i="0">
                <a:solidFill>
                  <a:srgbClr val="2563EB"/>
                </a:solidFill>
                <a:latin typeface="Segoe UI Light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54096" y="3401568"/>
            <a:ext cx="171907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61D2F"/>
                </a:solidFill>
                <a:latin typeface="Segoe UI Semibold"/>
              </a:rPr>
              <a:t>Backend + BD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64748B"/>
                </a:solidFill>
                <a:latin typeface="Segoe UI"/>
              </a:rPr>
              <a:t>FastAPI + PostgreSQL; endpoints y registro de logs.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7488" y="2743200"/>
            <a:ext cx="1938528" cy="15544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7488" y="2907792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600" b="0" i="0">
                <a:solidFill>
                  <a:srgbClr val="2563EB"/>
                </a:solidFill>
                <a:latin typeface="Segoe UI Light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57216" y="3401568"/>
            <a:ext cx="171907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61D2F"/>
                </a:solidFill>
                <a:latin typeface="Segoe UI Semibold"/>
              </a:rPr>
              <a:t>Bot + Frontend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64748B"/>
                </a:solidFill>
                <a:latin typeface="Segoe UI"/>
              </a:rPr>
              <a:t>Conectar el LLM y construir el widget + CSAT.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50608" y="2743200"/>
            <a:ext cx="1938528" cy="15544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50608" y="2907792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600" b="0" i="0">
                <a:solidFill>
                  <a:srgbClr val="2563EB"/>
                </a:solidFill>
                <a:latin typeface="Segoe UI Light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0336" y="3401568"/>
            <a:ext cx="171907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61D2F"/>
                </a:solidFill>
                <a:latin typeface="Segoe UI Semibold"/>
              </a:rPr>
              <a:t>Integración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64748B"/>
                </a:solidFill>
                <a:latin typeface="Segoe UI"/>
              </a:rPr>
              <a:t>Insertar el &lt;script&gt; en el sitio; configurar CORS.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53728" y="2743200"/>
            <a:ext cx="1938528" cy="15544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53728" y="2907792"/>
            <a:ext cx="19385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600" b="0" i="0">
                <a:solidFill>
                  <a:srgbClr val="2563EB"/>
                </a:solidFill>
                <a:latin typeface="Segoe UI Light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63456" y="3401568"/>
            <a:ext cx="171907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61D2F"/>
                </a:solidFill>
                <a:latin typeface="Segoe UI Semibold"/>
              </a:rPr>
              <a:t>Despliegue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64748B"/>
                </a:solidFill>
                <a:latin typeface="Segoe UI"/>
              </a:rPr>
              <a:t>Publicar en Render + Netlify; pruebas y monitoreo.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641908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InnovVentas · Chatbot Nova · AI-900T00 · SENATI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19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566928"/>
            <a:ext cx="27432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6012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IMPLEMENTACIÓN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0" i="0">
                <a:solidFill>
                  <a:srgbClr val="161D2F"/>
                </a:solidFill>
                <a:latin typeface="Segoe UI Light"/>
              </a:rPr>
              <a:t>Métricas de éxito (objetivos)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27632"/>
            <a:ext cx="566928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2011680"/>
            <a:ext cx="2468880" cy="15544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240280"/>
            <a:ext cx="24688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400" b="0" i="0">
                <a:solidFill>
                  <a:srgbClr val="2563EB"/>
                </a:solidFill>
                <a:latin typeface="Segoe UI Light"/>
              </a:rPr>
              <a:t>≥ 85%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97180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Segoe UI"/>
              </a:rPr>
              <a:t>Resolución sin agente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1296" y="2011680"/>
            <a:ext cx="2468880" cy="15544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11296" y="2240280"/>
            <a:ext cx="24688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400" b="0" i="0">
                <a:solidFill>
                  <a:srgbClr val="2563EB"/>
                </a:solidFill>
                <a:latin typeface="Segoe UI Light"/>
              </a:rPr>
              <a:t>≥ 4.2/5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11296" y="297180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Segoe UI"/>
              </a:rPr>
              <a:t>CSAT (satisfacción)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2011680"/>
            <a:ext cx="2468880" cy="15544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1344" y="2240280"/>
            <a:ext cx="24688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400" b="0" i="0">
                <a:solidFill>
                  <a:srgbClr val="2563EB"/>
                </a:solidFill>
                <a:latin typeface="Segoe UI Light"/>
              </a:rPr>
              <a:t>−25%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81344" y="297180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Segoe UI"/>
              </a:rPr>
              <a:t>Carritos abandonados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51392" y="2011680"/>
            <a:ext cx="2468880" cy="15544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51392" y="2240280"/>
            <a:ext cx="24688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400" b="0" i="0">
                <a:solidFill>
                  <a:srgbClr val="2563EB"/>
                </a:solidFill>
                <a:latin typeface="Segoe UI Light"/>
              </a:rPr>
              <a:t>&lt; 2 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51392" y="297180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Segoe UI"/>
              </a:rPr>
              <a:t>Tiempo de respuesta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3977639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563EB"/>
                </a:solidFill>
                <a:latin typeface="Segoe UI Semibold"/>
              </a:rPr>
              <a:t>QUÉ SE MONITOREA (en vivo, desde PostgreSQL)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" y="4507992"/>
            <a:ext cx="146304" cy="1463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33856" y="443484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61D2F"/>
                </a:solidFill>
                <a:latin typeface="Segoe UI"/>
              </a:rPr>
              <a:t>Total de conversaciones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61688" y="4507992"/>
            <a:ext cx="146304" cy="1463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54296" y="443484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61D2F"/>
                </a:solidFill>
                <a:latin typeface="Segoe UI"/>
              </a:rPr>
              <a:t>Top intenciones consultadas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82128" y="4507992"/>
            <a:ext cx="146304" cy="1463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74736" y="443484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61D2F"/>
                </a:solidFill>
                <a:latin typeface="Segoe UI"/>
              </a:rPr>
              <a:t>Tasa de fallback (no entendidas)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8" y="5148072"/>
            <a:ext cx="146304" cy="1463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33856" y="507492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61D2F"/>
                </a:solidFill>
                <a:latin typeface="Segoe UI"/>
              </a:rPr>
              <a:t>CSAT promedio (1–5)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61688" y="5148072"/>
            <a:ext cx="146304" cy="1463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54296" y="507492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61D2F"/>
                </a:solidFill>
                <a:latin typeface="Segoe UI"/>
              </a:rPr>
              <a:t>Tasa de resolución / escalado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82128" y="5148072"/>
            <a:ext cx="146304" cy="1463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74736" y="507492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61D2F"/>
                </a:solidFill>
                <a:latin typeface="Segoe UI"/>
              </a:rPr>
              <a:t>Conversiones atribuidas al chat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641908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InnovVentas · Chatbot Nova · AI-900T00 · SENATI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19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566928"/>
            <a:ext cx="27432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6012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PREGUNTAS GUÍA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0" i="0">
                <a:solidFill>
                  <a:srgbClr val="161D2F"/>
                </a:solidFill>
                <a:latin typeface="Segoe UI Light"/>
              </a:rPr>
              <a:t>Respuestas (1 – 3)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27632"/>
            <a:ext cx="566928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61D2F"/>
                </a:solidFill>
                <a:latin typeface="Segoe UI Semibold"/>
              </a:rPr>
              <a:t>1) ¿Cuáles son las FAQs más comunes de los clientes?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258568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4748B"/>
                </a:solidFill>
                <a:latin typeface="Segoe UI"/>
              </a:rPr>
              <a:t>Especificaciones y disponibilidad de productos, garantía; precios, IGV y descuentos; métodos de pago (Yape, Plin, tarjetas, cuotas); proceso de compra y cancelación; tiempos/costos y rastreo de envíos; devoluciones y soporte técnico.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29184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61D2F"/>
                </a:solidFill>
                <a:latin typeface="Segoe UI Semibold"/>
              </a:rPr>
              <a:t>2) ¿Qué herramientas/plataformas son más adecuadas?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675888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4748B"/>
                </a:solidFill>
                <a:latin typeface="Segoe UI"/>
              </a:rPr>
              <a:t>Widget en JS embebible (Netlify) + API FastAPI (Render) + motor NLP con LLM Groq usando las FAQs como contexto (alineado al curso vía Azure AI Language) + PostgreSQL (Neon) para métricas. Gratis, escalable e intercambiable.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70916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61D2F"/>
                </a:solidFill>
                <a:latin typeface="Segoe UI Semibold"/>
              </a:rPr>
              <a:t>3) ¿Cómo evaluar la efectividad (satisfacción y ventas)?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5093208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4748B"/>
                </a:solidFill>
                <a:latin typeface="Segoe UI"/>
              </a:rPr>
              <a:t>Satisfacción: CSAT (1–5), tasa de resolución sin escalado y tasa de comprensión. Ventas: reducción de carritos abandonados y conversión post-chat. Todo registrado en PostgreSQL y visible en el dashboard.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641908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InnovVentas · Chatbot Nova · AI-900T00 · SENATI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19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566928"/>
            <a:ext cx="27432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6012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PREGUNTAS GUÍA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0" i="0">
                <a:solidFill>
                  <a:srgbClr val="161D2F"/>
                </a:solidFill>
                <a:latin typeface="Segoe UI Light"/>
              </a:rPr>
              <a:t>Respuestas (4 – 5)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27632"/>
            <a:ext cx="566928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96596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61D2F"/>
                </a:solidFill>
                <a:latin typeface="Segoe UI Semibold"/>
              </a:rPr>
              <a:t>4) ¿Qué desafíos técnicos podrían surgir y cómo resolverlos?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50008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4748B"/>
                </a:solidFill>
                <a:latin typeface="Segoe UI"/>
              </a:rPr>
              <a:t>Comprensión del lenguaje → LLM con grounding en FAQs (no inventa). Integración → widget &lt;script&gt; + CORS. Seguridad → las claves viven en el backend, nunca en el navegador. Disponibilidad → contenedores con healthcheck/restart. FAQs actualizadas → edición en base de datos.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84048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61D2F"/>
                </a:solidFill>
                <a:latin typeface="Segoe UI Semibold"/>
              </a:rPr>
              <a:t>5) ¿Qué métricas monitorear y cómo optimizar las funcionalidades?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224528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4748B"/>
                </a:solidFill>
                <a:latin typeface="Segoe UI"/>
              </a:rPr>
              <a:t>Monitorear: nº de conversaciones, top intenciones, % de fallback, CSAT y tasa de resolución. Optimizar: revisar los mensajes en fallback para convertirlos en nuevas FAQs, ajustar el prompt/base de conocimiento y re-entrenar periódicamente con casos reales.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641908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InnovVentas · Chatbot Nova · AI-900T00 · SENATI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19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566928"/>
            <a:ext cx="27432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6012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RESULTADO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0" i="0">
                <a:solidFill>
                  <a:srgbClr val="161D2F"/>
                </a:solidFill>
                <a:latin typeface="Segoe UI Light"/>
              </a:rPr>
              <a:t>Demo en vivo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27632"/>
            <a:ext cx="566928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2011680"/>
            <a:ext cx="3337560" cy="15544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" y="2240280"/>
            <a:ext cx="2926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50" b="1" i="0">
                <a:solidFill>
                  <a:srgbClr val="161D2F"/>
                </a:solidFill>
                <a:latin typeface="Segoe UI Semibold"/>
              </a:rPr>
              <a:t>Tienda + Widget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4748B"/>
                </a:solidFill>
                <a:latin typeface="Segoe UI"/>
              </a:rPr>
              <a:t>Sitio de InnovVentas con Nova flotante (Netlify)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2011680"/>
            <a:ext cx="3337560" cy="15544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36008" y="2240280"/>
            <a:ext cx="2926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50" b="1" i="0">
                <a:solidFill>
                  <a:srgbClr val="161D2F"/>
                </a:solidFill>
                <a:latin typeface="Segoe UI Semibold"/>
              </a:rPr>
              <a:t>Chatbot Nova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4748B"/>
                </a:solidFill>
                <a:latin typeface="Segoe UI"/>
              </a:rPr>
              <a:t>Conversación real con persistencia del historial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73568" y="2011680"/>
            <a:ext cx="3337560" cy="155448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2168" y="2240280"/>
            <a:ext cx="2926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50" b="1" i="0">
                <a:solidFill>
                  <a:srgbClr val="161D2F"/>
                </a:solidFill>
                <a:latin typeface="Segoe UI Semibold"/>
              </a:rPr>
              <a:t>Dashboard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4748B"/>
                </a:solidFill>
                <a:latin typeface="Segoe UI"/>
              </a:rPr>
              <a:t>Métricas en vivo desde la 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977639"/>
            <a:ext cx="10515600" cy="13716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61288" y="416052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563EB"/>
                </a:solidFill>
                <a:latin typeface="Segoe UI Semibold"/>
              </a:rPr>
              <a:t>URLs del demo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61D2F"/>
                </a:solidFill>
                <a:latin typeface="Segoe UI Semibold"/>
              </a:rPr>
              <a:t>API (backend):  </a:t>
            </a:r>
            <a:r>
              <a:rPr sz="1350" b="0" i="0">
                <a:solidFill>
                  <a:srgbClr val="2563EB"/>
                </a:solidFill>
                <a:latin typeface="Segoe UI"/>
              </a:rPr>
              <a:t>innovventas-chatbot-rz1k.onrender.com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61D2F"/>
                </a:solidFill>
                <a:latin typeface="Segoe UI Semibold"/>
              </a:rPr>
              <a:t>Tienda + Dashboard:  </a:t>
            </a:r>
            <a:r>
              <a:rPr sz="1350" b="0" i="0">
                <a:solidFill>
                  <a:srgbClr val="64748B"/>
                </a:solidFill>
                <a:latin typeface="Segoe UI"/>
              </a:rPr>
              <a:t>publicado en Netlify (frontend estático)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641908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InnovVentas · Chatbot Nova · AI-900T00 · SENATI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19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566928"/>
            <a:ext cx="27432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6012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MADUREZ DEL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0" i="0">
                <a:solidFill>
                  <a:srgbClr val="161D2F"/>
                </a:solidFill>
                <a:latin typeface="Segoe UI Light"/>
              </a:rPr>
              <a:t>Limitaciones y trabajo futuro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27632"/>
            <a:ext cx="566928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127248" y="18288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B45309"/>
                </a:solidFill>
                <a:latin typeface="Segoe UI Semibold"/>
              </a:rPr>
              <a:t>LIMITACIÓN ACTUAL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42048" y="18288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059669"/>
                </a:solidFill>
                <a:latin typeface="Segoe UI Semibold"/>
              </a:rPr>
              <a:t>TRABAJO FUTURO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2194560"/>
            <a:ext cx="4937760" cy="841248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2194560"/>
            <a:ext cx="457200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61D2F"/>
                </a:solidFill>
                <a:latin typeface="Segoe UI"/>
              </a:rPr>
              <a:t>Sin integración con inventario en vivo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70448" y="2615184"/>
            <a:ext cx="457200" cy="0"/>
          </a:xfrm>
          <a:prstGeom prst="line">
            <a:avLst/>
          </a:prstGeom>
          <a:ln w="22225">
            <a:solidFill>
              <a:srgbClr val="2563E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419088" y="2194560"/>
            <a:ext cx="4937760" cy="841248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47688" y="2194560"/>
            <a:ext cx="457200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61D2F"/>
                </a:solidFill>
                <a:latin typeface="Segoe UI"/>
              </a:rPr>
              <a:t>Conectar el catálogo: stock y precios en tiempo real vía API.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3154680"/>
            <a:ext cx="4937760" cy="841248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3154680"/>
            <a:ext cx="457200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61D2F"/>
                </a:solidFill>
                <a:latin typeface="Segoe UI"/>
              </a:rPr>
              <a:t>El plan gratuito de hosting «duerme» (latencia inicial)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70448" y="3575304"/>
            <a:ext cx="457200" cy="0"/>
          </a:xfrm>
          <a:prstGeom prst="line">
            <a:avLst/>
          </a:prstGeom>
          <a:ln w="22225">
            <a:solidFill>
              <a:srgbClr val="2563E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419088" y="3154680"/>
            <a:ext cx="4937760" cy="841248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7688" y="3154680"/>
            <a:ext cx="457200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61D2F"/>
                </a:solidFill>
                <a:latin typeface="Segoe UI"/>
              </a:rPr>
              <a:t>Migrar a Azure (App Service / Container Instances).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4114800"/>
            <a:ext cx="4937760" cy="841248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9848" y="4114800"/>
            <a:ext cx="457200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61D2F"/>
                </a:solidFill>
                <a:latin typeface="Segoe UI"/>
              </a:rPr>
              <a:t>Atención solo en español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870448" y="4535424"/>
            <a:ext cx="457200" cy="0"/>
          </a:xfrm>
          <a:prstGeom prst="line">
            <a:avLst/>
          </a:prstGeom>
          <a:ln w="22225">
            <a:solidFill>
              <a:srgbClr val="2563E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419088" y="4114800"/>
            <a:ext cx="4937760" cy="841248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7688" y="4114800"/>
            <a:ext cx="457200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61D2F"/>
                </a:solidFill>
                <a:latin typeface="Segoe UI"/>
              </a:rPr>
              <a:t>Soporte multiidioma para ampliar mercado.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" y="5074920"/>
            <a:ext cx="4937760" cy="841248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9848" y="5074920"/>
            <a:ext cx="457200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61D2F"/>
                </a:solidFill>
                <a:latin typeface="Segoe UI"/>
              </a:rPr>
              <a:t>FAQs gestionadas desde la base de datos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870448" y="5495544"/>
            <a:ext cx="457200" cy="0"/>
          </a:xfrm>
          <a:prstGeom prst="line">
            <a:avLst/>
          </a:prstGeom>
          <a:ln w="22225">
            <a:solidFill>
              <a:srgbClr val="2563E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419088" y="5074920"/>
            <a:ext cx="4937760" cy="841248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47688" y="5074920"/>
            <a:ext cx="457200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61D2F"/>
                </a:solidFill>
                <a:latin typeface="Segoe UI"/>
              </a:rPr>
              <a:t>Panel de administración para editar FAQs sin código.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" y="6035040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64748B"/>
                </a:solidFill>
                <a:latin typeface="Segoe UI"/>
              </a:rPr>
              <a:t>Reconocer los límites y trazar el roadmap demuestra madurez técnica y visión de producto.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641908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InnovVentas · Chatbot Nova · AI-900T00 · SENATI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419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566928"/>
            <a:ext cx="274320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6012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563EB"/>
                </a:solidFill>
                <a:latin typeface="Segoe UI Semibold"/>
              </a:rPr>
              <a:t>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0" i="0">
                <a:solidFill>
                  <a:srgbClr val="161D2F"/>
                </a:solidFill>
                <a:latin typeface="Segoe UI Light"/>
              </a:rPr>
              <a:t>Conclusiones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627632"/>
            <a:ext cx="566928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1248" y="2066544"/>
            <a:ext cx="146304" cy="1463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7008" y="1965960"/>
            <a:ext cx="99669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61D2F"/>
                </a:solidFill>
                <a:latin typeface="Segoe UI"/>
              </a:rPr>
              <a:t>Nova ataca la causa raíz del abandono de carrito: atención inmediata, 24/7 e integrada al sitio.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2980944"/>
            <a:ext cx="146304" cy="1463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7008" y="2880360"/>
            <a:ext cx="99669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61D2F"/>
                </a:solidFill>
                <a:latin typeface="Segoe UI"/>
              </a:rPr>
              <a:t>Solución funcional y desplegada en la nube con costo cero (capa gratuita).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3895344"/>
            <a:ext cx="146304" cy="1463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07008" y="3794760"/>
            <a:ext cx="99669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61D2F"/>
                </a:solidFill>
                <a:latin typeface="Segoe UI"/>
              </a:rPr>
              <a:t>Arquitectura desacoplada: el motor de IA es intercambiable (Groq hoy, Azure AI Language en producción).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4809744"/>
            <a:ext cx="146304" cy="1463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7008" y="4709160"/>
            <a:ext cx="99669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61D2F"/>
                </a:solidFill>
                <a:latin typeface="Segoe UI"/>
              </a:rPr>
              <a:t>Cada conversación se registra y se mide, habilitando optimización continua basada en datos.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641908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InnovVentas · Chatbot Nova · AI-900T00 · SENATI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19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4748B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37744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0" b="0" i="0">
                <a:solidFill>
                  <a:srgbClr val="161D2F"/>
                </a:solidFill>
                <a:latin typeface="Segoe UI Light"/>
              </a:rPr>
              <a:t>¡Gracias!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65760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64748B"/>
                </a:solidFill>
                <a:latin typeface="Segoe UI"/>
              </a:rPr>
              <a:t>¿Preguntas? Prueba a Nova en vivo en el sitio de InnovVentas.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4343400"/>
            <a:ext cx="2011680" cy="317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45720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61D2F"/>
                </a:solidFill>
                <a:latin typeface="Segoe UI Semibold"/>
              </a:rPr>
              <a:t>soporte@innovventas.pe</a:t>
            </a:r>
            <a:r>
              <a:rPr sz="1350" b="0" i="0">
                <a:solidFill>
                  <a:srgbClr val="64748B"/>
                </a:solidFill>
                <a:latin typeface="Segoe UI"/>
              </a:rPr>
              <a:t>    ·    01-234-5678    ·    </a:t>
            </a:r>
            <a:r>
              <a:rPr sz="1350" b="0" i="0">
                <a:solidFill>
                  <a:srgbClr val="2563EB"/>
                </a:solidFill>
                <a:latin typeface="Segoe UI"/>
              </a:rPr>
              <a:t>innovventas-chatbot-rz1k.onrender.com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InnovVentas — Chatbot Nova | Trabajo Final AI-900T00</dc:title>
  <dc:subject/>
  <dc:creator>Cahua · Cruces · Olivitos — SENATI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