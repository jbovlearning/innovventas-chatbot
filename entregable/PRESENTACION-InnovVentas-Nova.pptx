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15087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563EB"/>
                </a:solidFill>
                <a:latin typeface="Segoe UI Semibold"/>
              </a:rPr>
              <a:t>TRABAJO FINAL DEL CURSO · AI-900T00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1168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600" b="0" i="0">
                <a:solidFill>
                  <a:srgbClr val="161D2F"/>
                </a:solidFill>
                <a:latin typeface="Segoe UI Light"/>
              </a:rPr>
              <a:t>Nova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500" b="0" i="0">
                <a:solidFill>
                  <a:srgbClr val="161D2F"/>
                </a:solidFill>
                <a:latin typeface="Segoe UI Light"/>
              </a:rPr>
              <a:t>Chatbot inteligente para el E-commerce de InnovVentas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2011680" cy="317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43434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Segoe UI"/>
              </a:rPr>
              <a:t>Conceptos Básicos de IA en Microsoft Azure · Tecnologías de la Información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Equipo:  </a:t>
            </a:r>
            <a:r>
              <a:rPr sz="1400" b="0" i="0">
                <a:solidFill>
                  <a:srgbClr val="64748B"/>
                </a:solidFill>
                <a:latin typeface="Segoe UI"/>
              </a:rPr>
              <a:t>Hugo André Cahua Solano · Henry Humberto Cruces Castro · Jean Beckan Olivitos Villanueva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01168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01168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Diagnóstico: contexto y problemas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83464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83464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83464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Causa raíz y propuesta de valor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5760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365760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65760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La solución: Nova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48056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24128" y="448056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8056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Decisión tecnológica y costos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01168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01168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01168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Diseño: FAQs, flujo y arquitectura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83464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283464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83464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Plan de implementación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65760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65760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65760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Métricas y preguntas guía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48056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4480560"/>
            <a:ext cx="6400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80560"/>
            <a:ext cx="41605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Demo en vivo y conclusiones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Contexto: InnovVentas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4864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61D2F"/>
                </a:solidFill>
                <a:latin typeface="Segoe UI"/>
              </a:rPr>
              <a:t>Empresa peruana especializada en la comercialización de productos tecnológicos. Su principal canal de ventas es el E-commerce.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64748B"/>
                </a:solidFill>
                <a:latin typeface="Segoe UI"/>
              </a:rPr>
              <a:t>Presenta una baja interacción en su sitio web que impacta las ventas y la retención: los usuarios abandonan la compra por falta de respuestas rápidas a sus dudas.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81051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NECESIDADES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240280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Inmediatez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Respuestas en segundos,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Cobertura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Antes, durante y después de la compra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977639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3977639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Integración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No intrusiva, sobre el sitio actual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4846320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3891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Métricas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Medir impacto en ventas y abandono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Problemas en el flujo de E-commerce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1248" y="205740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2258568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Carritos abandonados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Los usuarios dejan la compra a medias por dudas no resueltas a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205740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81928" y="205740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2258568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Consultas sin respuesta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Especificaciones, métodos de pago y disponibilidad sin atención inmediata.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93192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1248" y="393192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61288" y="4133087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Soporte lento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Tickets que tardan 24–48 h generan insatisfacción y fuga a la competencia.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393192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81928" y="393192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01968" y="4133087"/>
            <a:ext cx="45720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Sin visibilidad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No se miden las interacciones; no se puede optimizar la conversión.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CAUSA →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De la causa raíz a la solución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C262A"/>
                </a:solidFill>
                <a:latin typeface="Segoe UI Semibold"/>
              </a:rPr>
              <a:t>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8288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45309"/>
                </a:solidFill>
                <a:latin typeface="Segoe UI Semibold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828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59669"/>
                </a:solidFill>
                <a:latin typeface="Segoe UI Semibold"/>
              </a:rPr>
              <a:t>SOLUCIÓN — NOVA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94560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21945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Carritos abandonados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77056" y="2766060"/>
            <a:ext cx="374904" cy="0"/>
          </a:xfrm>
          <a:prstGeom prst="line">
            <a:avLst/>
          </a:prstGeom>
          <a:ln w="2222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70248" y="2194560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53128" y="2194560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No hay respuestas rápidas durante la compra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06056" y="2766060"/>
            <a:ext cx="374904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99248" y="219456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82128" y="2194560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Nova responde FAQs al instante y guía el checkout.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493008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24128" y="3493008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Fuga a la competencia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7056" y="4064508"/>
            <a:ext cx="374904" cy="0"/>
          </a:xfrm>
          <a:prstGeom prst="line">
            <a:avLst/>
          </a:prstGeom>
          <a:ln w="2222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70248" y="3493008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53128" y="3493008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Dudas de specs, pago y stock sin atención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06056" y="4064508"/>
            <a:ext cx="374904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99248" y="3493008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82128" y="3493008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Atención 24/7 con base de FAQs; deriva a humano si hace falta.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791456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24128" y="4791456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Sin mejora continua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77056" y="5362956"/>
            <a:ext cx="374904" cy="0"/>
          </a:xfrm>
          <a:prstGeom prst="line">
            <a:avLst/>
          </a:prstGeom>
          <a:ln w="2222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270248" y="4791456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53128" y="4791456"/>
            <a:ext cx="269748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No se miden las interacciones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06056" y="5362956"/>
            <a:ext cx="374904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699248" y="4791456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82128" y="4791456"/>
            <a:ext cx="33375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Registro de todo + dashboard (CSAT, intenciones, resolución).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Nova, el asistente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64748B"/>
                </a:solidFill>
                <a:latin typeface="Segoe UI"/>
              </a:rPr>
              <a:t>Chatbot conversacional embebible en el sitio de InnovVentas. Entiende lenguaje natural con un modelo de lenguaje (LLM) y responde ciñéndose a las FAQs de la empresa; registra cada conversación y mide la satisfacción del cliente.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06324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15568" y="335584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35608" y="324612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Responde FAQs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Productos, pagos, envíos, garantías y devoluciones.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306324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56248" y="335584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76288" y="324612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Asiste la compra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Guía el checkout para reducir el abandono de carrito.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48056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15568" y="477316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35608" y="466344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Soporte 24/7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Disponible siempre, con escalado a un humano.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448056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56248" y="477316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76288" y="466344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Mide impacto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CSAT, intenciones y tasa de resolución en un dashboard.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DECISIONES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Decisión tecnológica: Azure y alternativas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64748B"/>
                </a:solidFill>
                <a:latin typeface="Segoe UI"/>
              </a:rPr>
              <a:t>El curso se centra en Azure AI; la opción ideal era Azure AI Language (CLU). Al agotarse el crédito de estudiante de Azure, se optó por alternativas de capa gratuita equivalentes, conservando una arquitectura desacoplada y migrable a Azure.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27889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4748B"/>
                </a:solidFill>
                <a:latin typeface="Segoe UI Semibold"/>
              </a:rPr>
              <a:t>OPCIÓN IDEAL (AZURE)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2128" y="27889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59669"/>
                </a:solidFill>
                <a:latin typeface="Segoe UI Semibold"/>
              </a:rPr>
              <a:t>IMPLEMENTADO (GRATIS)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108960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3108960"/>
            <a:ext cx="27432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Motor NLP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1648" y="3108960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AI Language (CLU)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79208" y="3410712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82128" y="3108960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LLM Groq (Llama 3.3)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803904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4128" y="3803904"/>
            <a:ext cx="27432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803904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Container Instances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79208" y="4105656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82128" y="3803904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Render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498848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24128" y="4498848"/>
            <a:ext cx="27432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Base de datos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498848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DB for PostgreSQL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79208" y="4800600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82128" y="4498848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PostgreSQL en Neon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5193792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4128" y="5193792"/>
            <a:ext cx="27432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5193792"/>
            <a:ext cx="32918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Static Web Apps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79208" y="5495544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882128" y="5193792"/>
            <a:ext cx="338328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Netlify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94360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Segoe UI"/>
              </a:rPr>
              <a:t>El motor de IA y la BD se cambian por variables de entorno: se puede volver a Azure sin reescribir el código.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Stack y justificación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192024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5568" y="1920240"/>
            <a:ext cx="21031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563EB"/>
                </a:solidFill>
                <a:latin typeface="Segoe UI Semibold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920240"/>
            <a:ext cx="2560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HTML/CSS/JS vanilla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1888" y="1920240"/>
            <a:ext cx="52120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Embebible con un &lt;script&gt;, sin dependencias; compatible con cualquier web.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82549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25496"/>
            <a:ext cx="21031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563EB"/>
                </a:solidFill>
                <a:latin typeface="Segoe UI Semibold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825496"/>
            <a:ext cx="2560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Python +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825496"/>
            <a:ext cx="52120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API REST rápida y asíncrona; documentación automática; ecosistema de 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73075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15568" y="3730752"/>
            <a:ext cx="21031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563EB"/>
                </a:solidFill>
                <a:latin typeface="Segoe UI Semibold"/>
              </a:rPr>
              <a:t>Motor NLP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3730752"/>
            <a:ext cx="2560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LLM Groq (Llama 3.3)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730752"/>
            <a:ext cx="52120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Entiende lenguaje libre con las FAQs como contexto; intercambiable con Azure CLU.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6360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15568" y="4636008"/>
            <a:ext cx="21031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563EB"/>
                </a:solidFill>
                <a:latin typeface="Segoe UI Semibold"/>
              </a:rPr>
              <a:t>Base de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36008"/>
            <a:ext cx="2560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PostgreSQL (Neon)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636008"/>
            <a:ext cx="52120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Robusta y open source; ideal para logs y métricas; migrable a Azure DB.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541264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15568" y="5541264"/>
            <a:ext cx="21031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563EB"/>
                </a:solidFill>
                <a:latin typeface="Segoe UI Semibold"/>
              </a:rPr>
              <a:t>Despliegue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5541264"/>
            <a:ext cx="256032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Render + Netlify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1888" y="5541264"/>
            <a:ext cx="52120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Hosting gratuito; el backend resguarda las claves de API (no se exponen).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Costos de operación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98848" y="18288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59669"/>
                </a:solidFill>
                <a:latin typeface="Segoe UI Semibold"/>
              </a:rPr>
              <a:t>MVP ACTUAL (CAPA GRATUITA)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18288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4748B"/>
                </a:solidFill>
                <a:latin typeface="Segoe UI Semibold"/>
              </a:rPr>
              <a:t>PRODUCCIÓN EN AZURE (ESTIMADO/MES)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19456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" y="219456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Motor NLP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19456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Groq —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219456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AI Language ≈ $25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834639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69848" y="2834639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Backend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834639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Render —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834639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App Service (B1) ≈ $13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47472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69848" y="347472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47472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Neon — 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47472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DB PostgreSQL ≈ $20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11480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" y="411480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Frontend / 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11480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Netlify —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411480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Static Web Apps ≈ $0–9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75488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9848" y="4754880"/>
            <a:ext cx="32918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Dominio + SSL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75488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Incluido — Free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4754880"/>
            <a:ext cx="3200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≈ $2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539496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9848" y="5394960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TOTAL MENSUAL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539496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US$ 0 / 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5394960"/>
            <a:ext cx="3200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≈ US$ 60 / mes (estimado)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989320"/>
            <a:ext cx="104241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Desarrollo: equipo de 3 personas, ~4 semanas (costo académico). Cifras de Azure referenciales según volumen.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Base de conocimiento: FAQs por categoría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258568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Productos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Especificaciones, stock y garantía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20574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2258568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Precios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Precios con IGV, descuentos y cupones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82128" y="20574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2258568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Métodos de pago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Yape, Plin, tarjetas y cuotas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576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58768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Proceso de compra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Pasos, compra invitado, cancelación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36576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3858768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Envíos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Tiempos, costos y rastreo de pedidos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8" y="36576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38160" y="3858768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Soporte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Garantías, devoluciones y post-venta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48640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4748B"/>
                </a:solidFill>
                <a:latin typeface="Segoe UI"/>
              </a:rPr>
              <a:t>Personalidad: «Nova», tono amigable y conciso, en español peruano. Umbral de confianza con derivación a humano (fallback).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Flujo conversacional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87451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Usuario
escribe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15767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799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71799" y="2468880"/>
            <a:ext cx="187451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Nova procesa
(LLM + FAQs)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46318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02350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02350" y="2468880"/>
            <a:ext cx="187451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Responde con
la FAQ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76869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32901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32901" y="2468880"/>
            <a:ext cx="187451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Registra en
PostgreSQL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07420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63452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63452" y="2468880"/>
            <a:ext cx="187451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Encuesta CSAT
y cierre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06908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15568" y="406908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Si la consulta no está cubierta por las FAQs → Nova lo reconoce (no inventa) y deriva a soporte / agente humano, registrando el caso como fallback para mejorar la base de conocimiento.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Arquitectura técnica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08960" y="1828800"/>
            <a:ext cx="5943600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08960" y="182880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FRONTEND — Widget embebible + Tienda  (Netlify)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697480"/>
            <a:ext cx="0" cy="36576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17920" y="2724912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4748B"/>
                </a:solidFill>
                <a:latin typeface="Segoe UI"/>
              </a:rPr>
              <a:t>HTTPS · POST /api/chat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3108960"/>
            <a:ext cx="5943600" cy="86868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3108960"/>
            <a:ext cx="59436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BACKEND — API REST FastAPI  (Render)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023360" y="3977639"/>
            <a:ext cx="731520" cy="457201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06640" y="3977639"/>
            <a:ext cx="731520" cy="457201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54480" y="4480560"/>
            <a:ext cx="420624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48056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563EB"/>
                </a:solidFill>
                <a:latin typeface="Segoe UI Semibold"/>
              </a:rPr>
              <a:t>MOTOR NLP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LLM Groq (Llama 3.3) + FAQs
Alternativa: Azure AI Language (CLU)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480560"/>
            <a:ext cx="420624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448056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563EB"/>
                </a:solidFill>
                <a:latin typeface="Segoe UI Semibold"/>
              </a:rPr>
              <a:t>BASE DE DATOS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PostgreSQL (Neon)
faqs · chat_logs · sessions · feedback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80644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Segoe UI"/>
              </a:rPr>
              <a:t>Motor NLP y base de datos son piezas intercambiables (se cambian por variables de entorno).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Métricas de éxito (objetivos)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2240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≥ 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718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Resolución sin agente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11296" y="2240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≥ 4.2/5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1296" y="29718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CSAT (satisfacción)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81344" y="2240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−25%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9718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Carritos abandonados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51392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51392" y="2240280"/>
            <a:ext cx="24688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&lt; 2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971800"/>
            <a:ext cx="2468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Tiempo de respuesta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77639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QUÉ SE MONITOREA (en vivo, desde PostgreSQL)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50799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33856" y="44348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Total de conversaciones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450799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54296" y="44348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Top intenciones consultadas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82128" y="450799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74736" y="44348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Tasa de fallback (no entendidas)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514807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33856" y="507492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CSAT promedio (1–5)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514807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54296" y="507492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Tasa de resolución / escalado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8" y="514807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74736" y="507492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Conversiones atribuidas al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PREGUNTAS GUÍA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Respuestas (1 –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1) ¿Cuáles son las FAQs más comunes de los clientes?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58568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Especificaciones y disponibilidad de productos, garantía; precios, IGV y descuentos; métodos de pago (Yape, Plin, tarjetas, cuotas); proceso de compra y cancelación; tiempos/costos y rastreo de envíos; devoluciones y soporte técnico.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9184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2) ¿Qué herramientas/plataformas son más adecuadas?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75888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Widget en JS embebible (Netlify) + API FastAPI (Render) + motor NLP con LLM Groq usando las FAQs como contexto (alineado al curso vía Azure AI Language) + PostgreSQL (Neon) para métricas. Gratis, escalable e intercambiable.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3) ¿Cómo evaluar la efectividad (satisfacción y ventas)?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093208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Satisfacción: CSAT (1–5), tasa de resolución sin escalado y tasa de comprensión. Ventas: reducción de carritos abandonados y conversión post-chat. Todo registrado en PostgreSQL y visible en el dashboard.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PREGUNTAS GUÍA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Respuestas (4 – 5)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4) ¿Qué desafíos técnicos podrían surgir y cómo resolverlos?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50008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Comprensión del lenguaje → LLM con grounding en FAQs (no inventa). Integración → widget &lt;script&gt; + CORS. Seguridad → las claves viven en el backend, nunca en el navegador. Disponibilidad → contenedores con healthcheck/restart. FAQs actualizadas → edición en base de datos.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404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5) ¿Qué métricas monitorear y cómo optimizar las funcionalidades?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24528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Monitorear: nº de conversaciones, top intenciones, % de fallback, CSAT y tasa de resolución. Optimizar: revisar los mensajes en fallback para convertirlos en nuevas FAQs, ajustar el prompt/base de conocimiento y re-entrenar periódicamente con casos reales.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Demo en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333756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" y="22402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Tienda + Widget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Sitio de InnovVentas con Nova flotante (Netlify)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011680"/>
            <a:ext cx="333756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36008" y="22402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Chatbot Nova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Conversación real con persistencia del historial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2011680"/>
            <a:ext cx="333756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2402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Dashboard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Métricas en vivo desde la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977639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61288" y="416052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URLs del demo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API (backend):  </a:t>
            </a:r>
            <a:r>
              <a:rPr sz="1350" b="0" i="0">
                <a:solidFill>
                  <a:srgbClr val="2563EB"/>
                </a:solidFill>
                <a:latin typeface="Segoe UI"/>
              </a:rPr>
              <a:t>innovventas-chatbot-rz1k.onrender.com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Tienda + Dashboard:  </a:t>
            </a:r>
            <a:r>
              <a:rPr sz="1350" b="0" i="0">
                <a:solidFill>
                  <a:srgbClr val="64748B"/>
                </a:solidFill>
                <a:latin typeface="Segoe UI"/>
              </a:rPr>
              <a:t>publicado en Netlify (frontend estático)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1248" y="237744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0" i="0">
                <a:solidFill>
                  <a:srgbClr val="161D2F"/>
                </a:solidFill>
                <a:latin typeface="Segoe UI Light"/>
              </a:rPr>
              <a:t>¡Gracias!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6576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64748B"/>
                </a:solidFill>
                <a:latin typeface="Segoe UI"/>
              </a:rPr>
              <a:t>¿Preguntas? Prueba a Nova en vivo en el sitio de InnovVentas.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343400"/>
            <a:ext cx="2011680" cy="317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soporte@innovventas.pe</a:t>
            </a:r>
            <a:r>
              <a:rPr sz="1350" b="0" i="0">
                <a:solidFill>
                  <a:srgbClr val="64748B"/>
                </a:solidFill>
                <a:latin typeface="Segoe UI"/>
              </a:rPr>
              <a:t>    ·    01-234-5678    ·    </a:t>
            </a:r>
            <a:r>
              <a:rPr sz="1350" b="0" i="0">
                <a:solidFill>
                  <a:srgbClr val="2563EB"/>
                </a:solidFill>
                <a:latin typeface="Segoe UI"/>
              </a:rPr>
              <a:t>innovventas-chatbot-rz1k.onrender.com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1595</Words>
  <Application>Microsoft Office PowerPoint</Application>
  <PresentationFormat>Widescreen</PresentationFormat>
  <Paragraphs>239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Segoe UI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InnovVentas — Chatbot Nova | Trabajo Final AI-900T00</dc:title>
  <dc:subject/>
  <dc:creator>Cahua · Cruces · Olivitos — SENATI</dc:creator>
  <cp:keywords/>
  <dc:description>generated using python-pptx</dc:description>
  <cp:lastModifiedBy>Jean Beckan</cp:lastModifiedBy>
  <cp:revision>2</cp:revision>
  <dcterms:created xsi:type="dcterms:W3CDTF">2013-01-27T09:14:16Z</dcterms:created>
  <dcterms:modified xsi:type="dcterms:W3CDTF">2026-06-02T03:37:31Z</dcterms:modified>
  <cp:category/>
</cp:coreProperties>
</file>